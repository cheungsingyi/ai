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image" Target="../media/image-8-25.png"/><Relationship Id="rId26" Type="http://schemas.openxmlformats.org/officeDocument/2006/relationships/image" Target="../media/image-8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png"/><Relationship Id="rId21" Type="http://schemas.openxmlformats.org/officeDocument/2006/relationships/image" Target="../media/image-11-21.png"/><Relationship Id="rId22" Type="http://schemas.openxmlformats.org/officeDocument/2006/relationships/image" Target="../media/image-11-22.png"/><Relationship Id="rId23" Type="http://schemas.openxmlformats.org/officeDocument/2006/relationships/image" Target="../media/image-11-23.png"/><Relationship Id="rId24" Type="http://schemas.openxmlformats.org/officeDocument/2006/relationships/image" Target="../media/image-11-24.png"/><Relationship Id="rId25" Type="http://schemas.openxmlformats.org/officeDocument/2006/relationships/image" Target="../media/image-11-25.png"/><Relationship Id="rId26" Type="http://schemas.openxmlformats.org/officeDocument/2006/relationships/image" Target="../media/image-11-26.png"/><Relationship Id="rId27" Type="http://schemas.openxmlformats.org/officeDocument/2006/relationships/image" Target="../media/image-11-27.png"/><Relationship Id="rId28" Type="http://schemas.openxmlformats.org/officeDocument/2006/relationships/image" Target="../media/image-11-28.png"/><Relationship Id="rId29" Type="http://schemas.openxmlformats.org/officeDocument/2006/relationships/image" Target="../media/image-11-29.png"/><Relationship Id="rId30" Type="http://schemas.openxmlformats.org/officeDocument/2006/relationships/image" Target="../media/image-11-30.png"/><Relationship Id="rId31" Type="http://schemas.openxmlformats.org/officeDocument/2006/relationships/image" Target="../media/image-11-31.png"/><Relationship Id="rId32" Type="http://schemas.openxmlformats.org/officeDocument/2006/relationships/image" Target="../media/image-11-32.png"/><Relationship Id="rId33" Type="http://schemas.openxmlformats.org/officeDocument/2006/relationships/image" Target="../media/image-11-33.png"/><Relationship Id="rId34" Type="http://schemas.openxmlformats.org/officeDocument/2006/relationships/image" Target="../media/image-11-34.png"/><Relationship Id="rId35" Type="http://schemas.openxmlformats.org/officeDocument/2006/relationships/image" Target="../media/image-11-35.png"/><Relationship Id="rId36" Type="http://schemas.openxmlformats.org/officeDocument/2006/relationships/image" Target="../media/image-11-36.png"/><Relationship Id="rId37" Type="http://schemas.openxmlformats.org/officeDocument/2006/relationships/image" Target="../media/image-11-37.png"/><Relationship Id="rId38" Type="http://schemas.openxmlformats.org/officeDocument/2006/relationships/image" Target="../media/image-11-38.png"/><Relationship Id="rId39" Type="http://schemas.openxmlformats.org/officeDocument/2006/relationships/image" Target="../media/image-11-39.png"/><Relationship Id="rId40" Type="http://schemas.openxmlformats.org/officeDocument/2006/relationships/image" Target="../media/image-11-40.png"/><Relationship Id="rId41" Type="http://schemas.openxmlformats.org/officeDocument/2006/relationships/image" Target="../media/image-11-41.png"/><Relationship Id="rId42" Type="http://schemas.openxmlformats.org/officeDocument/2006/relationships/image" Target="../media/image-11-42.png"/><Relationship Id="rId43" Type="http://schemas.openxmlformats.org/officeDocument/2006/relationships/image" Target="../media/image-11-43.png"/><Relationship Id="rId44" Type="http://schemas.openxmlformats.org/officeDocument/2006/relationships/image" Target="../media/image-11-44.png"/><Relationship Id="rId45" Type="http://schemas.openxmlformats.org/officeDocument/2006/relationships/image" Target="../media/image-11-45.png"/><Relationship Id="rId46" Type="http://schemas.openxmlformats.org/officeDocument/2006/relationships/image" Target="../media/image-11-46.png"/><Relationship Id="rId47" Type="http://schemas.openxmlformats.org/officeDocument/2006/relationships/image" Target="../media/image-11-47.png"/><Relationship Id="rId48" Type="http://schemas.openxmlformats.org/officeDocument/2006/relationships/image" Target="../media/image-11-48.png"/><Relationship Id="rId49" Type="http://schemas.openxmlformats.org/officeDocument/2006/relationships/slideLayout" Target="../slideLayouts/slideLayout1.xml"/><Relationship Id="rId5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pn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png"/><Relationship Id="rId21" Type="http://schemas.openxmlformats.org/officeDocument/2006/relationships/image" Target="../media/image-13-21.png"/><Relationship Id="rId22" Type="http://schemas.openxmlformats.org/officeDocument/2006/relationships/image" Target="../media/image-13-22.png"/><Relationship Id="rId23" Type="http://schemas.openxmlformats.org/officeDocument/2006/relationships/image" Target="../media/image-13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85800"/>
            <a:ext cx="114300" cy="1143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981450"/>
            <a:ext cx="152400" cy="1524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32435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66725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5045" y="5905500"/>
            <a:ext cx="6215955" cy="5715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5943600"/>
            <a:ext cx="219075" cy="30480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771525" y="609600"/>
            <a:ext cx="27899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Team Presentation</a:t>
            </a:r>
            <a:endParaRPr lang="en-US" sz="1350" dirty="0"/>
          </a:p>
        </p:txBody>
      </p:sp>
      <p:sp>
        <p:nvSpPr>
          <p:cNvPr id="11" name="Text 1"/>
          <p:cNvSpPr/>
          <p:nvPr/>
        </p:nvSpPr>
        <p:spPr>
          <a:xfrm>
            <a:off x="609600" y="9525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Monorepo in GitHub for Code Management and Collaboration</a:t>
            </a:r>
            <a:endParaRPr lang="en-US" sz="3600" dirty="0"/>
          </a:p>
        </p:txBody>
      </p:sp>
      <p:sp>
        <p:nvSpPr>
          <p:cNvPr id="12" name="Text 2"/>
          <p:cNvSpPr/>
          <p:nvPr/>
        </p:nvSpPr>
        <p:spPr>
          <a:xfrm>
            <a:off x="609600" y="2019300"/>
            <a:ext cx="13167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Unified Workflow with </a:t>
            </a:r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uv</a:t>
            </a:r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Python Package Manager</a:t>
            </a:r>
            <a:endParaRPr lang="en-US" sz="2250" dirty="0"/>
          </a:p>
        </p:txBody>
      </p:sp>
      <p:sp>
        <p:nvSpPr>
          <p:cNvPr id="13" name="Text 3"/>
          <p:cNvSpPr/>
          <p:nvPr/>
        </p:nvSpPr>
        <p:spPr>
          <a:xfrm>
            <a:off x="609600" y="3429000"/>
            <a:ext cx="65836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Streamlining our data workflow with a unified codebase</a:t>
            </a:r>
            <a:endParaRPr lang="en-US" sz="1500" dirty="0"/>
          </a:p>
        </p:txBody>
      </p:sp>
      <p:sp>
        <p:nvSpPr>
          <p:cNvPr id="14" name="Text 4"/>
          <p:cNvSpPr/>
          <p:nvPr/>
        </p:nvSpPr>
        <p:spPr>
          <a:xfrm>
            <a:off x="876300" y="3924300"/>
            <a:ext cx="37961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Simplified dependency management</a:t>
            </a:r>
            <a:endParaRPr lang="en-US" sz="1350" dirty="0"/>
          </a:p>
        </p:txBody>
      </p:sp>
      <p:sp>
        <p:nvSpPr>
          <p:cNvPr id="15" name="Text 5"/>
          <p:cNvSpPr/>
          <p:nvPr/>
        </p:nvSpPr>
        <p:spPr>
          <a:xfrm>
            <a:off x="876300" y="4267200"/>
            <a:ext cx="30228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Enhanced team collaboration</a:t>
            </a:r>
            <a:endParaRPr lang="en-US" sz="1350" dirty="0"/>
          </a:p>
        </p:txBody>
      </p:sp>
      <p:sp>
        <p:nvSpPr>
          <p:cNvPr id="16" name="Text 6"/>
          <p:cNvSpPr/>
          <p:nvPr/>
        </p:nvSpPr>
        <p:spPr>
          <a:xfrm>
            <a:off x="876300" y="4610100"/>
            <a:ext cx="32420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Accelerated development cycle</a:t>
            </a:r>
            <a:endParaRPr lang="en-US" sz="1350" dirty="0"/>
          </a:p>
        </p:txBody>
      </p:sp>
      <p:sp>
        <p:nvSpPr>
          <p:cNvPr id="17" name="Text 7"/>
          <p:cNvSpPr/>
          <p:nvPr/>
        </p:nvSpPr>
        <p:spPr>
          <a:xfrm>
            <a:off x="5747445" y="6057900"/>
            <a:ext cx="6173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apps/</a:t>
            </a:r>
            <a:endParaRPr lang="en-US" sz="1350" dirty="0"/>
          </a:p>
        </p:txBody>
      </p:sp>
      <p:sp>
        <p:nvSpPr>
          <p:cNvPr id="18" name="Text 8"/>
          <p:cNvSpPr/>
          <p:nvPr/>
        </p:nvSpPr>
        <p:spPr>
          <a:xfrm>
            <a:off x="6441132" y="6057900"/>
            <a:ext cx="11112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packages/</a:t>
            </a:r>
            <a:endParaRPr lang="en-US" sz="1350" dirty="0"/>
          </a:p>
        </p:txBody>
      </p:sp>
      <p:sp>
        <p:nvSpPr>
          <p:cNvPr id="19" name="Text 9"/>
          <p:cNvSpPr/>
          <p:nvPr/>
        </p:nvSpPr>
        <p:spPr>
          <a:xfrm>
            <a:off x="7546330" y="6057900"/>
            <a:ext cx="6173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docs/</a:t>
            </a:r>
            <a:endParaRPr lang="en-US" sz="1350" dirty="0"/>
          </a:p>
        </p:txBody>
      </p:sp>
      <p:sp>
        <p:nvSpPr>
          <p:cNvPr id="20" name="Text 10"/>
          <p:cNvSpPr/>
          <p:nvPr/>
        </p:nvSpPr>
        <p:spPr>
          <a:xfrm>
            <a:off x="8240018" y="6057900"/>
            <a:ext cx="9878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scripts/</a:t>
            </a:r>
            <a:endParaRPr lang="en-US" sz="1350" dirty="0"/>
          </a:p>
        </p:txBody>
      </p:sp>
      <p:sp>
        <p:nvSpPr>
          <p:cNvPr id="21" name="Text 11"/>
          <p:cNvSpPr/>
          <p:nvPr/>
        </p:nvSpPr>
        <p:spPr>
          <a:xfrm>
            <a:off x="9242375" y="6057900"/>
            <a:ext cx="17286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pyproject.toml</a:t>
            </a:r>
            <a:endParaRPr lang="en-US" sz="1350" dirty="0"/>
          </a:p>
        </p:txBody>
      </p:sp>
      <p:sp>
        <p:nvSpPr>
          <p:cNvPr id="22" name="Text 12"/>
          <p:cNvSpPr/>
          <p:nvPr/>
        </p:nvSpPr>
        <p:spPr>
          <a:xfrm>
            <a:off x="10862072" y="6057900"/>
            <a:ext cx="8643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uv.lock</a:t>
            </a:r>
            <a:endParaRPr lang="en-US" sz="1350" dirty="0"/>
          </a:p>
        </p:txBody>
      </p:sp>
      <p:sp>
        <p:nvSpPr>
          <p:cNvPr id="23" name="Text 13"/>
          <p:cNvSpPr/>
          <p:nvPr/>
        </p:nvSpPr>
        <p:spPr>
          <a:xfrm>
            <a:off x="904875" y="5962650"/>
            <a:ext cx="34152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GitHub Monorepo Solution</a:t>
            </a:r>
            <a:endParaRPr lang="en-US" sz="1500" dirty="0"/>
          </a:p>
        </p:txBody>
      </p:sp>
      <p:sp>
        <p:nvSpPr>
          <p:cNvPr id="24" name="Text 14"/>
          <p:cNvSpPr/>
          <p:nvPr/>
        </p:nvSpPr>
        <p:spPr>
          <a:xfrm>
            <a:off x="9455348" y="5981700"/>
            <a:ext cx="21270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November 5, 2025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43100"/>
            <a:ext cx="5372100" cy="1181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2133600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838" y="2266950"/>
            <a:ext cx="200025" cy="3048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1943100"/>
            <a:ext cx="5372100" cy="11811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2133600"/>
            <a:ext cx="571500" cy="5715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0" y="2266950"/>
            <a:ext cx="228600" cy="3048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3352800"/>
            <a:ext cx="5372100" cy="11811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3543300"/>
            <a:ext cx="571500" cy="571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1550" y="367665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3352800"/>
            <a:ext cx="5372100" cy="11811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3543300"/>
            <a:ext cx="571500" cy="5715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72250" y="3676650"/>
            <a:ext cx="228600" cy="3048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4838700"/>
            <a:ext cx="10972800" cy="6096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" y="4991100"/>
            <a:ext cx="228600" cy="3048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609600" y="609600"/>
            <a:ext cx="13167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Current Challenges in Our Data Team</a:t>
            </a:r>
            <a:endParaRPr lang="en-US" sz="2700" dirty="0"/>
          </a:p>
        </p:txBody>
      </p:sp>
      <p:sp>
        <p:nvSpPr>
          <p:cNvPr id="19" name="Text 1"/>
          <p:cNvSpPr/>
          <p:nvPr/>
        </p:nvSpPr>
        <p:spPr>
          <a:xfrm>
            <a:off x="609600" y="1104900"/>
            <a:ext cx="1097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Our team navigates a landscape of scattered code across numerous repositories, facing several operational challenges</a:t>
            </a:r>
            <a:endParaRPr lang="en-US" sz="1500" dirty="0"/>
          </a:p>
        </p:txBody>
      </p:sp>
      <p:sp>
        <p:nvSpPr>
          <p:cNvPr id="20" name="Text 2"/>
          <p:cNvSpPr/>
          <p:nvPr/>
        </p:nvSpPr>
        <p:spPr>
          <a:xfrm>
            <a:off x="1524000" y="2133600"/>
            <a:ext cx="4267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Scattered Code</a:t>
            </a:r>
            <a:endParaRPr lang="en-US" sz="1500" dirty="0"/>
          </a:p>
        </p:txBody>
      </p:sp>
      <p:sp>
        <p:nvSpPr>
          <p:cNvPr id="21" name="Text 3"/>
          <p:cNvSpPr/>
          <p:nvPr/>
        </p:nvSpPr>
        <p:spPr>
          <a:xfrm>
            <a:off x="1524000" y="2476500"/>
            <a:ext cx="426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Code distributed across numerous repositories, making it difficult to understand the full system</a:t>
            </a:r>
            <a:endParaRPr lang="en-US" sz="1200" dirty="0"/>
          </a:p>
        </p:txBody>
      </p:sp>
      <p:sp>
        <p:nvSpPr>
          <p:cNvPr id="22" name="Text 4"/>
          <p:cNvSpPr/>
          <p:nvPr/>
        </p:nvSpPr>
        <p:spPr>
          <a:xfrm>
            <a:off x="7124700" y="2133600"/>
            <a:ext cx="5120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Dependency Conflicts</a:t>
            </a:r>
            <a:endParaRPr lang="en-US" sz="1500" dirty="0"/>
          </a:p>
        </p:txBody>
      </p:sp>
      <p:sp>
        <p:nvSpPr>
          <p:cNvPr id="23" name="Text 5"/>
          <p:cNvSpPr/>
          <p:nvPr/>
        </p:nvSpPr>
        <p:spPr>
          <a:xfrm>
            <a:off x="7124700" y="2476500"/>
            <a:ext cx="426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Version mismatches and conflicts between dependencies causing integration issues</a:t>
            </a:r>
            <a:endParaRPr lang="en-US" sz="1200" dirty="0"/>
          </a:p>
        </p:txBody>
      </p:sp>
      <p:sp>
        <p:nvSpPr>
          <p:cNvPr id="24" name="Text 6"/>
          <p:cNvSpPr/>
          <p:nvPr/>
        </p:nvSpPr>
        <p:spPr>
          <a:xfrm>
            <a:off x="1524000" y="3543300"/>
            <a:ext cx="5120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Inconsistent Tooling</a:t>
            </a:r>
            <a:endParaRPr lang="en-US" sz="1500" dirty="0"/>
          </a:p>
        </p:txBody>
      </p:sp>
      <p:sp>
        <p:nvSpPr>
          <p:cNvPr id="25" name="Text 7"/>
          <p:cNvSpPr/>
          <p:nvPr/>
        </p:nvSpPr>
        <p:spPr>
          <a:xfrm>
            <a:off x="1524000" y="3886200"/>
            <a:ext cx="426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Different teams using different tools and workflows, leading to fragmented expertise</a:t>
            </a:r>
            <a:endParaRPr lang="en-US" sz="1200" dirty="0"/>
          </a:p>
        </p:txBody>
      </p:sp>
      <p:sp>
        <p:nvSpPr>
          <p:cNvPr id="26" name="Text 8"/>
          <p:cNvSpPr/>
          <p:nvPr/>
        </p:nvSpPr>
        <p:spPr>
          <a:xfrm>
            <a:off x="7124700" y="3543300"/>
            <a:ext cx="4267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Duplicated Efforts</a:t>
            </a:r>
            <a:endParaRPr lang="en-US" sz="1500" dirty="0"/>
          </a:p>
        </p:txBody>
      </p:sp>
      <p:sp>
        <p:nvSpPr>
          <p:cNvPr id="27" name="Text 9"/>
          <p:cNvSpPr/>
          <p:nvPr/>
        </p:nvSpPr>
        <p:spPr>
          <a:xfrm>
            <a:off x="7124700" y="3886200"/>
            <a:ext cx="426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Multiple teams reimplementing similar solutions, wasting time and resources</a:t>
            </a:r>
            <a:endParaRPr lang="en-US" sz="1200" dirty="0"/>
          </a:p>
        </p:txBody>
      </p:sp>
      <p:sp>
        <p:nvSpPr>
          <p:cNvPr id="28" name="Text 10"/>
          <p:cNvSpPr/>
          <p:nvPr/>
        </p:nvSpPr>
        <p:spPr>
          <a:xfrm>
            <a:off x="1104900" y="5010150"/>
            <a:ext cx="105847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Impact: Slower development cycles, increased onboarding time, and reduced collaboration</a:t>
            </a:r>
            <a:endParaRPr lang="en-US" sz="1350" dirty="0"/>
          </a:p>
        </p:txBody>
      </p:sp>
      <p:sp>
        <p:nvSpPr>
          <p:cNvPr id="29" name="Text 11"/>
          <p:cNvSpPr/>
          <p:nvPr/>
        </p:nvSpPr>
        <p:spPr>
          <a:xfrm>
            <a:off x="11371808" y="6400800"/>
            <a:ext cx="527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 / 13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00200"/>
            <a:ext cx="10972800" cy="14097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1790700"/>
            <a:ext cx="285750" cy="3429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314700"/>
            <a:ext cx="5372100" cy="27432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3505200"/>
            <a:ext cx="381000" cy="3810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350" y="3619500"/>
            <a:ext cx="190500" cy="152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4038600"/>
            <a:ext cx="228600" cy="2286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40767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4343400"/>
            <a:ext cx="228600" cy="2286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" y="43815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4648200"/>
            <a:ext cx="228600" cy="2286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8200" y="46863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" y="50673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0100" y="53721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0100" y="56769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10300" y="3314700"/>
            <a:ext cx="5372100" cy="27432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00800" y="3505200"/>
            <a:ext cx="381000" cy="3810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24625" y="3619500"/>
            <a:ext cx="133350" cy="1524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0800" y="4038600"/>
            <a:ext cx="228600" cy="2286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29375" y="4076700"/>
            <a:ext cx="171450" cy="1524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00800" y="4343400"/>
            <a:ext cx="228600" cy="2286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29375" y="4381500"/>
            <a:ext cx="171450" cy="1524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00800" y="4648200"/>
            <a:ext cx="228600" cy="2286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29375" y="4686300"/>
            <a:ext cx="171450" cy="1524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00800" y="506730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00800" y="5372100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00800" y="5676900"/>
            <a:ext cx="152400" cy="15240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609600" y="6096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is a Monorepo?</a:t>
            </a:r>
            <a:endParaRPr lang="en-US" sz="2700" dirty="0"/>
          </a:p>
        </p:txBody>
      </p:sp>
      <p:sp>
        <p:nvSpPr>
          <p:cNvPr id="31" name="Text 1"/>
          <p:cNvSpPr/>
          <p:nvPr/>
        </p:nvSpPr>
        <p:spPr>
          <a:xfrm>
            <a:off x="609600" y="1104900"/>
            <a:ext cx="13167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version-controlled code repository hosting multiple distinct projects under a single roof</a:t>
            </a:r>
            <a:endParaRPr lang="en-US" sz="1500" dirty="0"/>
          </a:p>
        </p:txBody>
      </p:sp>
      <p:sp>
        <p:nvSpPr>
          <p:cNvPr id="32" name="Text 2"/>
          <p:cNvSpPr/>
          <p:nvPr/>
        </p:nvSpPr>
        <p:spPr>
          <a:xfrm>
            <a:off x="1238250" y="1790700"/>
            <a:ext cx="1015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Monorepo Definition</a:t>
            </a:r>
            <a:endParaRPr lang="en-US" sz="1500" dirty="0"/>
          </a:p>
        </p:txBody>
      </p:sp>
      <p:sp>
        <p:nvSpPr>
          <p:cNvPr id="33" name="Text 3"/>
          <p:cNvSpPr/>
          <p:nvPr/>
        </p:nvSpPr>
        <p:spPr>
          <a:xfrm>
            <a:off x="1238250" y="2133600"/>
            <a:ext cx="101536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monorepo is a version-controlled code repository that hosts multiple distinct projects or an entire full-stack codebase under a single roof. This approach contrasts with a "polyrepo" structure, where each project, application, or service resides in its own separate repository.</a:t>
            </a:r>
            <a:endParaRPr lang="en-US" sz="1200" dirty="0"/>
          </a:p>
        </p:txBody>
      </p:sp>
      <p:sp>
        <p:nvSpPr>
          <p:cNvPr id="34" name="Text 4"/>
          <p:cNvSpPr/>
          <p:nvPr/>
        </p:nvSpPr>
        <p:spPr>
          <a:xfrm>
            <a:off x="1295400" y="3543300"/>
            <a:ext cx="15514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Monorepo</a:t>
            </a:r>
            <a:endParaRPr lang="en-US" sz="1800" dirty="0"/>
          </a:p>
        </p:txBody>
      </p:sp>
      <p:sp>
        <p:nvSpPr>
          <p:cNvPr id="35" name="Text 5"/>
          <p:cNvSpPr/>
          <p:nvPr/>
        </p:nvSpPr>
        <p:spPr>
          <a:xfrm>
            <a:off x="1104900" y="4038600"/>
            <a:ext cx="9954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project-a/</a:t>
            </a:r>
            <a:endParaRPr lang="en-US" sz="1200" dirty="0"/>
          </a:p>
        </p:txBody>
      </p:sp>
      <p:sp>
        <p:nvSpPr>
          <p:cNvPr id="36" name="Text 6"/>
          <p:cNvSpPr/>
          <p:nvPr/>
        </p:nvSpPr>
        <p:spPr>
          <a:xfrm>
            <a:off x="1104900" y="4343400"/>
            <a:ext cx="10029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project-b/</a:t>
            </a:r>
            <a:endParaRPr lang="en-US" sz="1200" dirty="0"/>
          </a:p>
        </p:txBody>
      </p:sp>
      <p:sp>
        <p:nvSpPr>
          <p:cNvPr id="37" name="Text 7"/>
          <p:cNvSpPr/>
          <p:nvPr/>
        </p:nvSpPr>
        <p:spPr>
          <a:xfrm>
            <a:off x="1104900" y="4648200"/>
            <a:ext cx="98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project-c/</a:t>
            </a:r>
            <a:endParaRPr lang="en-US" sz="1200" dirty="0"/>
          </a:p>
        </p:txBody>
      </p:sp>
      <p:sp>
        <p:nvSpPr>
          <p:cNvPr id="38" name="Text 8"/>
          <p:cNvSpPr/>
          <p:nvPr/>
        </p:nvSpPr>
        <p:spPr>
          <a:xfrm>
            <a:off x="1028700" y="5029200"/>
            <a:ext cx="33906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Projects share unified version control</a:t>
            </a:r>
            <a:endParaRPr lang="en-US" sz="1200" dirty="0"/>
          </a:p>
        </p:txBody>
      </p:sp>
      <p:sp>
        <p:nvSpPr>
          <p:cNvPr id="39" name="Text 9"/>
          <p:cNvSpPr/>
          <p:nvPr/>
        </p:nvSpPr>
        <p:spPr>
          <a:xfrm>
            <a:off x="1028700" y="5334000"/>
            <a:ext cx="30884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Consistent tooling across projects</a:t>
            </a:r>
            <a:endParaRPr lang="en-US" sz="1200" dirty="0"/>
          </a:p>
        </p:txBody>
      </p:sp>
      <p:sp>
        <p:nvSpPr>
          <p:cNvPr id="40" name="Text 10"/>
          <p:cNvSpPr/>
          <p:nvPr/>
        </p:nvSpPr>
        <p:spPr>
          <a:xfrm>
            <a:off x="1028700" y="5638800"/>
            <a:ext cx="4293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Dependencies can be shared between projects</a:t>
            </a:r>
            <a:endParaRPr lang="en-US" sz="1200" dirty="0"/>
          </a:p>
        </p:txBody>
      </p:sp>
      <p:sp>
        <p:nvSpPr>
          <p:cNvPr id="41" name="Text 11"/>
          <p:cNvSpPr/>
          <p:nvPr/>
        </p:nvSpPr>
        <p:spPr>
          <a:xfrm>
            <a:off x="6896100" y="3543300"/>
            <a:ext cx="13685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CA8A0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Polyrepo</a:t>
            </a:r>
            <a:endParaRPr lang="en-US" sz="1800" dirty="0"/>
          </a:p>
        </p:txBody>
      </p:sp>
      <p:sp>
        <p:nvSpPr>
          <p:cNvPr id="42" name="Text 12"/>
          <p:cNvSpPr/>
          <p:nvPr/>
        </p:nvSpPr>
        <p:spPr>
          <a:xfrm>
            <a:off x="6705600" y="4038600"/>
            <a:ext cx="9954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project-a/</a:t>
            </a:r>
            <a:endParaRPr lang="en-US" sz="1200" dirty="0"/>
          </a:p>
        </p:txBody>
      </p:sp>
      <p:sp>
        <p:nvSpPr>
          <p:cNvPr id="43" name="Text 13"/>
          <p:cNvSpPr/>
          <p:nvPr/>
        </p:nvSpPr>
        <p:spPr>
          <a:xfrm>
            <a:off x="6705600" y="4343400"/>
            <a:ext cx="10029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project-b/</a:t>
            </a:r>
            <a:endParaRPr lang="en-US" sz="1200" dirty="0"/>
          </a:p>
        </p:txBody>
      </p:sp>
      <p:sp>
        <p:nvSpPr>
          <p:cNvPr id="44" name="Text 14"/>
          <p:cNvSpPr/>
          <p:nvPr/>
        </p:nvSpPr>
        <p:spPr>
          <a:xfrm>
            <a:off x="6705600" y="4648200"/>
            <a:ext cx="98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project-c/</a:t>
            </a:r>
            <a:endParaRPr lang="en-US" sz="1200" dirty="0"/>
          </a:p>
        </p:txBody>
      </p:sp>
      <p:sp>
        <p:nvSpPr>
          <p:cNvPr id="45" name="Text 15"/>
          <p:cNvSpPr/>
          <p:nvPr/>
        </p:nvSpPr>
        <p:spPr>
          <a:xfrm>
            <a:off x="6629400" y="5029200"/>
            <a:ext cx="41524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Each project has independent version control</a:t>
            </a:r>
            <a:endParaRPr lang="en-US" sz="1200" dirty="0"/>
          </a:p>
        </p:txBody>
      </p:sp>
      <p:sp>
        <p:nvSpPr>
          <p:cNvPr id="46" name="Text 16"/>
          <p:cNvSpPr/>
          <p:nvPr/>
        </p:nvSpPr>
        <p:spPr>
          <a:xfrm>
            <a:off x="6629400" y="5334000"/>
            <a:ext cx="31936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Tooling may vary between projects</a:t>
            </a:r>
            <a:endParaRPr lang="en-US" sz="1200" dirty="0"/>
          </a:p>
        </p:txBody>
      </p:sp>
      <p:sp>
        <p:nvSpPr>
          <p:cNvPr id="47" name="Text 17"/>
          <p:cNvSpPr/>
          <p:nvPr/>
        </p:nvSpPr>
        <p:spPr>
          <a:xfrm>
            <a:off x="6629400" y="5638800"/>
            <a:ext cx="51088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Dependency management between projects is complex</a:t>
            </a:r>
            <a:endParaRPr lang="en-US" sz="1200" dirty="0"/>
          </a:p>
        </p:txBody>
      </p:sp>
      <p:sp>
        <p:nvSpPr>
          <p:cNvPr id="48" name="Text 18"/>
          <p:cNvSpPr/>
          <p:nvPr/>
        </p:nvSpPr>
        <p:spPr>
          <a:xfrm>
            <a:off x="11371808" y="6400800"/>
            <a:ext cx="527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 / 13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66900"/>
            <a:ext cx="2628900" cy="18859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5925" y="201930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2124075"/>
            <a:ext cx="190500" cy="2667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0900" y="1866900"/>
            <a:ext cx="2628900" cy="18859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7225" y="2019300"/>
            <a:ext cx="476250" cy="4762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5813" y="2124075"/>
            <a:ext cx="219075" cy="2667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200" y="1866900"/>
            <a:ext cx="2628900" cy="18859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48525" y="2019300"/>
            <a:ext cx="476250" cy="4762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91400" y="2124075"/>
            <a:ext cx="190500" cy="2667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53500" y="1866900"/>
            <a:ext cx="2628900" cy="18859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29825" y="2019300"/>
            <a:ext cx="476250" cy="4762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48888" y="2124075"/>
            <a:ext cx="238125" cy="2667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3905250"/>
            <a:ext cx="2628900" cy="18859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85925" y="4057650"/>
            <a:ext cx="476250" cy="47625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28800" y="4162425"/>
            <a:ext cx="190500" cy="2667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90900" y="3905250"/>
            <a:ext cx="2628900" cy="188595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67225" y="4057650"/>
            <a:ext cx="476250" cy="47625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86288" y="4162425"/>
            <a:ext cx="238125" cy="2667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72200" y="3905250"/>
            <a:ext cx="2628900" cy="188595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48525" y="4057650"/>
            <a:ext cx="476250" cy="47625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400925" y="4162425"/>
            <a:ext cx="171450" cy="2667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953500" y="3905250"/>
            <a:ext cx="2628900" cy="188595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029825" y="4057650"/>
            <a:ext cx="476250" cy="47625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182225" y="4162425"/>
            <a:ext cx="171450" cy="2667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609600" y="609600"/>
            <a:ext cx="13167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Why Monorepo Matters for Data Teams</a:t>
            </a:r>
            <a:endParaRPr lang="en-US" sz="2700" dirty="0"/>
          </a:p>
        </p:txBody>
      </p:sp>
      <p:sp>
        <p:nvSpPr>
          <p:cNvPr id="29" name="Text 1"/>
          <p:cNvSpPr/>
          <p:nvPr/>
        </p:nvSpPr>
        <p:spPr>
          <a:xfrm>
            <a:off x="609600" y="1104900"/>
            <a:ext cx="1097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Adopting a monorepo offers significant advantages for data teams, streamlining workflows and enhancing collaboration</a:t>
            </a:r>
            <a:endParaRPr lang="en-US" sz="1500" dirty="0"/>
          </a:p>
        </p:txBody>
      </p:sp>
      <p:sp>
        <p:nvSpPr>
          <p:cNvPr id="30" name="Text 2"/>
          <p:cNvSpPr/>
          <p:nvPr/>
        </p:nvSpPr>
        <p:spPr>
          <a:xfrm>
            <a:off x="811247" y="2609850"/>
            <a:ext cx="22254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Centralized Tooling</a:t>
            </a:r>
            <a:endParaRPr lang="en-US" sz="1350" dirty="0"/>
          </a:p>
        </p:txBody>
      </p:sp>
      <p:sp>
        <p:nvSpPr>
          <p:cNvPr id="31" name="Text 3"/>
          <p:cNvSpPr/>
          <p:nvPr/>
        </p:nvSpPr>
        <p:spPr>
          <a:xfrm>
            <a:off x="762000" y="2952750"/>
            <a:ext cx="23241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Consolidates tooling efforts, simplifying improvements across all data projects</a:t>
            </a:r>
            <a:endParaRPr lang="en-US" sz="1050" dirty="0"/>
          </a:p>
        </p:txBody>
      </p:sp>
      <p:sp>
        <p:nvSpPr>
          <p:cNvPr id="32" name="Text 4"/>
          <p:cNvSpPr/>
          <p:nvPr/>
        </p:nvSpPr>
        <p:spPr>
          <a:xfrm>
            <a:off x="3547527" y="2609850"/>
            <a:ext cx="23156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Simplified Workflow</a:t>
            </a:r>
            <a:endParaRPr lang="en-US" sz="1350" dirty="0"/>
          </a:p>
        </p:txBody>
      </p:sp>
      <p:sp>
        <p:nvSpPr>
          <p:cNvPr id="33" name="Text 5"/>
          <p:cNvSpPr/>
          <p:nvPr/>
        </p:nvSpPr>
        <p:spPr>
          <a:xfrm>
            <a:off x="3543300" y="2952750"/>
            <a:ext cx="23241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Provides a single entry point for most tasks, reducing context switching</a:t>
            </a:r>
            <a:endParaRPr lang="en-US" sz="1050" dirty="0"/>
          </a:p>
        </p:txBody>
      </p:sp>
      <p:sp>
        <p:nvSpPr>
          <p:cNvPr id="34" name="Text 6"/>
          <p:cNvSpPr/>
          <p:nvPr/>
        </p:nvSpPr>
        <p:spPr>
          <a:xfrm>
            <a:off x="6289000" y="2609850"/>
            <a:ext cx="23952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Reduced Duplication</a:t>
            </a:r>
            <a:endParaRPr lang="en-US" sz="1350" dirty="0"/>
          </a:p>
        </p:txBody>
      </p:sp>
      <p:sp>
        <p:nvSpPr>
          <p:cNvPr id="35" name="Text 7"/>
          <p:cNvSpPr/>
          <p:nvPr/>
        </p:nvSpPr>
        <p:spPr>
          <a:xfrm>
            <a:off x="6324600" y="2952750"/>
            <a:ext cx="23241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Facilitates creation and reuse of shared modules for common operations</a:t>
            </a:r>
            <a:endParaRPr lang="en-US" sz="1050" dirty="0"/>
          </a:p>
        </p:txBody>
      </p:sp>
      <p:sp>
        <p:nvSpPr>
          <p:cNvPr id="36" name="Text 8"/>
          <p:cNvSpPr/>
          <p:nvPr/>
        </p:nvSpPr>
        <p:spPr>
          <a:xfrm>
            <a:off x="9105900" y="2609850"/>
            <a:ext cx="2324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Streamlined Collaboration</a:t>
            </a:r>
            <a:endParaRPr lang="en-US" sz="1350" dirty="0"/>
          </a:p>
        </p:txBody>
      </p:sp>
      <p:sp>
        <p:nvSpPr>
          <p:cNvPr id="37" name="Text 9"/>
          <p:cNvSpPr/>
          <p:nvPr/>
        </p:nvSpPr>
        <p:spPr>
          <a:xfrm>
            <a:off x="9105900" y="3219450"/>
            <a:ext cx="2324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Improves visibility across projects and fosters knowledge sharing</a:t>
            </a:r>
            <a:endParaRPr lang="en-US" sz="1050" dirty="0"/>
          </a:p>
        </p:txBody>
      </p:sp>
      <p:sp>
        <p:nvSpPr>
          <p:cNvPr id="38" name="Text 10"/>
          <p:cNvSpPr/>
          <p:nvPr/>
        </p:nvSpPr>
        <p:spPr>
          <a:xfrm>
            <a:off x="762000" y="4648200"/>
            <a:ext cx="2324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Dependency Management</a:t>
            </a:r>
            <a:endParaRPr lang="en-US" sz="1350" dirty="0"/>
          </a:p>
        </p:txBody>
      </p:sp>
      <p:sp>
        <p:nvSpPr>
          <p:cNvPr id="39" name="Text 11"/>
          <p:cNvSpPr/>
          <p:nvPr/>
        </p:nvSpPr>
        <p:spPr>
          <a:xfrm>
            <a:off x="762000" y="5257800"/>
            <a:ext cx="2324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Eliminates version mismatches between shared components</a:t>
            </a:r>
            <a:endParaRPr lang="en-US" sz="1050" dirty="0"/>
          </a:p>
        </p:txBody>
      </p:sp>
      <p:sp>
        <p:nvSpPr>
          <p:cNvPr id="40" name="Text 12"/>
          <p:cNvSpPr/>
          <p:nvPr/>
        </p:nvSpPr>
        <p:spPr>
          <a:xfrm>
            <a:off x="3631838" y="4648200"/>
            <a:ext cx="214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Easier Onboarding</a:t>
            </a:r>
            <a:endParaRPr lang="en-US" sz="1350" dirty="0"/>
          </a:p>
        </p:txBody>
      </p:sp>
      <p:sp>
        <p:nvSpPr>
          <p:cNvPr id="41" name="Text 13"/>
          <p:cNvSpPr/>
          <p:nvPr/>
        </p:nvSpPr>
        <p:spPr>
          <a:xfrm>
            <a:off x="3543300" y="4991100"/>
            <a:ext cx="23241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New members access entire data ecosystem from a single repository</a:t>
            </a:r>
            <a:endParaRPr lang="en-US" sz="1050" dirty="0"/>
          </a:p>
        </p:txBody>
      </p:sp>
      <p:sp>
        <p:nvSpPr>
          <p:cNvPr id="42" name="Text 14"/>
          <p:cNvSpPr/>
          <p:nvPr/>
        </p:nvSpPr>
        <p:spPr>
          <a:xfrm>
            <a:off x="6324600" y="4648200"/>
            <a:ext cx="2324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Consistent Data Interfaces</a:t>
            </a:r>
            <a:endParaRPr lang="en-US" sz="1350" dirty="0"/>
          </a:p>
        </p:txBody>
      </p:sp>
      <p:sp>
        <p:nvSpPr>
          <p:cNvPr id="43" name="Text 15"/>
          <p:cNvSpPr/>
          <p:nvPr/>
        </p:nvSpPr>
        <p:spPr>
          <a:xfrm>
            <a:off x="6324600" y="5257800"/>
            <a:ext cx="2324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Encourages standardized schemas and data access patterns</a:t>
            </a:r>
            <a:endParaRPr lang="en-US" sz="1050" dirty="0"/>
          </a:p>
        </p:txBody>
      </p:sp>
      <p:sp>
        <p:nvSpPr>
          <p:cNvPr id="44" name="Text 16"/>
          <p:cNvSpPr/>
          <p:nvPr/>
        </p:nvSpPr>
        <p:spPr>
          <a:xfrm>
            <a:off x="9508212" y="4648200"/>
            <a:ext cx="1519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Unified CI/CD</a:t>
            </a:r>
            <a:endParaRPr lang="en-US" sz="1350" dirty="0"/>
          </a:p>
        </p:txBody>
      </p:sp>
      <p:sp>
        <p:nvSpPr>
          <p:cNvPr id="45" name="Text 17"/>
          <p:cNvSpPr/>
          <p:nvPr/>
        </p:nvSpPr>
        <p:spPr>
          <a:xfrm>
            <a:off x="9105900" y="4991100"/>
            <a:ext cx="2324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Allows for unified pipelines for testing and deploying data models</a:t>
            </a:r>
            <a:endParaRPr lang="en-US" sz="1050" dirty="0"/>
          </a:p>
        </p:txBody>
      </p:sp>
      <p:sp>
        <p:nvSpPr>
          <p:cNvPr id="46" name="Text 18"/>
          <p:cNvSpPr/>
          <p:nvPr/>
        </p:nvSpPr>
        <p:spPr>
          <a:xfrm>
            <a:off x="11371808" y="6400800"/>
            <a:ext cx="527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 / 13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38300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13360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188" y="2238375"/>
            <a:ext cx="219075" cy="2667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3124200"/>
            <a:ext cx="476250" cy="4762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188" y="3228975"/>
            <a:ext cx="219075" cy="2667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3886200"/>
            <a:ext cx="476250" cy="4762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3990975"/>
            <a:ext cx="171450" cy="2667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0" y="1638300"/>
            <a:ext cx="171450" cy="2286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0" y="2133600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5088" y="2238375"/>
            <a:ext cx="142875" cy="2667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0" y="2895600"/>
            <a:ext cx="476250" cy="4762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67463" y="3000375"/>
            <a:ext cx="238125" cy="2667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8400" y="3886200"/>
            <a:ext cx="476250" cy="4762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91275" y="3990975"/>
            <a:ext cx="190500" cy="2667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" y="4876800"/>
            <a:ext cx="10972800" cy="8382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2000" y="5143500"/>
            <a:ext cx="228600" cy="3048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609600" y="609600"/>
            <a:ext cx="13167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Common Misconceptions About Monorepos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609600" y="1104900"/>
            <a:ext cx="13167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Addressing performance and complexity fears with modern tooling solutions</a:t>
            </a:r>
            <a:endParaRPr lang="en-US" sz="1500" dirty="0"/>
          </a:p>
        </p:txBody>
      </p:sp>
      <p:sp>
        <p:nvSpPr>
          <p:cNvPr id="22" name="Text 2"/>
          <p:cNvSpPr/>
          <p:nvPr/>
        </p:nvSpPr>
        <p:spPr>
          <a:xfrm>
            <a:off x="952500" y="1600200"/>
            <a:ext cx="533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Common Concerns</a:t>
            </a:r>
            <a:endParaRPr lang="en-US" sz="1800" dirty="0"/>
          </a:p>
        </p:txBody>
      </p:sp>
      <p:sp>
        <p:nvSpPr>
          <p:cNvPr id="23" name="Text 3"/>
          <p:cNvSpPr/>
          <p:nvPr/>
        </p:nvSpPr>
        <p:spPr>
          <a:xfrm>
            <a:off x="1238250" y="2133600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Slow Performance</a:t>
            </a:r>
            <a:endParaRPr lang="en-US" sz="1500" dirty="0"/>
          </a:p>
        </p:txBody>
      </p:sp>
      <p:sp>
        <p:nvSpPr>
          <p:cNvPr id="24" name="Text 4"/>
          <p:cNvSpPr/>
          <p:nvPr/>
        </p:nvSpPr>
        <p:spPr>
          <a:xfrm>
            <a:off x="1238250" y="2438400"/>
            <a:ext cx="4705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Large repositories impact build times and developer experience</a:t>
            </a:r>
            <a:endParaRPr lang="en-US" sz="1200" dirty="0"/>
          </a:p>
        </p:txBody>
      </p:sp>
      <p:sp>
        <p:nvSpPr>
          <p:cNvPr id="25" name="Text 5"/>
          <p:cNvSpPr/>
          <p:nvPr/>
        </p:nvSpPr>
        <p:spPr>
          <a:xfrm>
            <a:off x="1238250" y="3124200"/>
            <a:ext cx="52419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Increased Complexity</a:t>
            </a:r>
            <a:endParaRPr lang="en-US" sz="1500" dirty="0"/>
          </a:p>
        </p:txBody>
      </p:sp>
      <p:sp>
        <p:nvSpPr>
          <p:cNvPr id="26" name="Text 6"/>
          <p:cNvSpPr/>
          <p:nvPr/>
        </p:nvSpPr>
        <p:spPr>
          <a:xfrm>
            <a:off x="1238250" y="3429000"/>
            <a:ext cx="5241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Managing dependencies and builds across many projects</a:t>
            </a:r>
            <a:endParaRPr lang="en-US" sz="1200" dirty="0"/>
          </a:p>
        </p:txBody>
      </p:sp>
      <p:sp>
        <p:nvSpPr>
          <p:cNvPr id="27" name="Text 7"/>
          <p:cNvSpPr/>
          <p:nvPr/>
        </p:nvSpPr>
        <p:spPr>
          <a:xfrm>
            <a:off x="1238250" y="3886200"/>
            <a:ext cx="42185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Version Conflicts</a:t>
            </a:r>
            <a:endParaRPr lang="en-US" sz="1500" dirty="0"/>
          </a:p>
        </p:txBody>
      </p:sp>
      <p:sp>
        <p:nvSpPr>
          <p:cNvPr id="28" name="Text 8"/>
          <p:cNvSpPr/>
          <p:nvPr/>
        </p:nvSpPr>
        <p:spPr>
          <a:xfrm>
            <a:off x="1238250" y="4191000"/>
            <a:ext cx="506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Difficulty tracking dependency versions across projects</a:t>
            </a:r>
            <a:endParaRPr lang="en-US" sz="1200" dirty="0"/>
          </a:p>
        </p:txBody>
      </p:sp>
      <p:sp>
        <p:nvSpPr>
          <p:cNvPr id="29" name="Text 9"/>
          <p:cNvSpPr/>
          <p:nvPr/>
        </p:nvSpPr>
        <p:spPr>
          <a:xfrm>
            <a:off x="6534150" y="1600200"/>
            <a:ext cx="533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Modern Solutions</a:t>
            </a:r>
            <a:endParaRPr lang="en-US" sz="1800" dirty="0"/>
          </a:p>
        </p:txBody>
      </p:sp>
      <p:sp>
        <p:nvSpPr>
          <p:cNvPr id="30" name="Text 10"/>
          <p:cNvSpPr/>
          <p:nvPr/>
        </p:nvSpPr>
        <p:spPr>
          <a:xfrm>
            <a:off x="6877050" y="2133600"/>
            <a:ext cx="46764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Blazing Fast Builds</a:t>
            </a:r>
            <a:endParaRPr lang="en-US" sz="1500" dirty="0"/>
          </a:p>
        </p:txBody>
      </p:sp>
      <p:sp>
        <p:nvSpPr>
          <p:cNvPr id="31" name="Text 11"/>
          <p:cNvSpPr/>
          <p:nvPr/>
        </p:nvSpPr>
        <p:spPr>
          <a:xfrm>
            <a:off x="6877050" y="2438400"/>
            <a:ext cx="56117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Tools detect affected projects and only process relevant code</a:t>
            </a:r>
            <a:endParaRPr lang="en-US" sz="1200" dirty="0"/>
          </a:p>
        </p:txBody>
      </p:sp>
      <p:sp>
        <p:nvSpPr>
          <p:cNvPr id="32" name="Text 12"/>
          <p:cNvSpPr/>
          <p:nvPr/>
        </p:nvSpPr>
        <p:spPr>
          <a:xfrm>
            <a:off x="6877050" y="2895600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Smart Caching</a:t>
            </a:r>
            <a:endParaRPr lang="en-US" sz="1500" dirty="0"/>
          </a:p>
        </p:txBody>
      </p:sp>
      <p:sp>
        <p:nvSpPr>
          <p:cNvPr id="33" name="Text 13"/>
          <p:cNvSpPr/>
          <p:nvPr/>
        </p:nvSpPr>
        <p:spPr>
          <a:xfrm>
            <a:off x="6877050" y="3200400"/>
            <a:ext cx="4705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Local and distributed computation caching prevents redundant work</a:t>
            </a:r>
            <a:endParaRPr lang="en-US" sz="1200" dirty="0"/>
          </a:p>
        </p:txBody>
      </p:sp>
      <p:sp>
        <p:nvSpPr>
          <p:cNvPr id="34" name="Text 14"/>
          <p:cNvSpPr/>
          <p:nvPr/>
        </p:nvSpPr>
        <p:spPr>
          <a:xfrm>
            <a:off x="6877050" y="3886200"/>
            <a:ext cx="470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Specialized Tooling</a:t>
            </a:r>
            <a:endParaRPr lang="en-US" sz="1500" dirty="0"/>
          </a:p>
        </p:txBody>
      </p:sp>
      <p:sp>
        <p:nvSpPr>
          <p:cNvPr id="35" name="Text 15"/>
          <p:cNvSpPr/>
          <p:nvPr/>
        </p:nvSpPr>
        <p:spPr>
          <a:xfrm>
            <a:off x="6877050" y="4191000"/>
            <a:ext cx="4705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Bazel, Nx, and Turborepo designed specifically to manage monorepo complexity</a:t>
            </a:r>
            <a:endParaRPr lang="en-US" sz="1200" dirty="0"/>
          </a:p>
        </p:txBody>
      </p:sp>
      <p:sp>
        <p:nvSpPr>
          <p:cNvPr id="36" name="Text 16"/>
          <p:cNvSpPr/>
          <p:nvPr/>
        </p:nvSpPr>
        <p:spPr>
          <a:xfrm>
            <a:off x="1104900" y="5029200"/>
            <a:ext cx="10325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Even Google uses monorepos (80 TB!) with these tools to maintain efficiency and consistency across teams</a:t>
            </a:r>
            <a:endParaRPr lang="en-US" sz="1350" dirty="0"/>
          </a:p>
        </p:txBody>
      </p:sp>
      <p:sp>
        <p:nvSpPr>
          <p:cNvPr id="37" name="Text 17"/>
          <p:cNvSpPr/>
          <p:nvPr/>
        </p:nvSpPr>
        <p:spPr>
          <a:xfrm>
            <a:off x="11371808" y="6400800"/>
            <a:ext cx="527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 / 13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88392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8392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00200"/>
            <a:ext cx="5257800" cy="57912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600200"/>
            <a:ext cx="5486400" cy="16764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752600"/>
            <a:ext cx="190500" cy="2667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429000"/>
            <a:ext cx="5486400" cy="19050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3581400"/>
            <a:ext cx="171450" cy="2667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5486400"/>
            <a:ext cx="5486400" cy="19050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0" y="5638800"/>
            <a:ext cx="219075" cy="2667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7620000"/>
            <a:ext cx="10972800" cy="6096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7772400"/>
            <a:ext cx="171450" cy="30480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609600" y="609600"/>
            <a:ext cx="13167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Proposed Data Monorepo Structure</a:t>
            </a:r>
            <a:endParaRPr lang="en-US" sz="2700" dirty="0"/>
          </a:p>
        </p:txBody>
      </p:sp>
      <p:sp>
        <p:nvSpPr>
          <p:cNvPr id="14" name="Text 1"/>
          <p:cNvSpPr/>
          <p:nvPr/>
        </p:nvSpPr>
        <p:spPr>
          <a:xfrm>
            <a:off x="609600" y="1104900"/>
            <a:ext cx="13167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clear and hierarchical folder organization for effective project management</a:t>
            </a:r>
            <a:endParaRPr lang="en-US" sz="1500" dirty="0"/>
          </a:p>
        </p:txBody>
      </p:sp>
      <p:sp>
        <p:nvSpPr>
          <p:cNvPr id="15" name="Text 2"/>
          <p:cNvSpPr/>
          <p:nvPr/>
        </p:nvSpPr>
        <p:spPr>
          <a:xfrm>
            <a:off x="838200" y="1857375"/>
            <a:ext cx="18580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6A73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Monorepo Root</a:t>
            </a:r>
            <a:endParaRPr lang="en-US" sz="1350" dirty="0"/>
          </a:p>
        </p:txBody>
      </p:sp>
      <p:sp>
        <p:nvSpPr>
          <p:cNvPr id="16" name="Text 3"/>
          <p:cNvSpPr/>
          <p:nvPr/>
        </p:nvSpPr>
        <p:spPr>
          <a:xfrm>
            <a:off x="2386608" y="1857375"/>
            <a:ext cx="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50" dirty="0"/>
          </a:p>
        </p:txBody>
      </p:sp>
      <p:sp>
        <p:nvSpPr>
          <p:cNvPr id="17" name="Text 4"/>
          <p:cNvSpPr/>
          <p:nvPr/>
        </p:nvSpPr>
        <p:spPr>
          <a:xfrm>
            <a:off x="838200" y="2124075"/>
            <a:ext cx="6193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EA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apps/</a:t>
            </a:r>
            <a:endParaRPr lang="en-US" sz="1350" dirty="0"/>
          </a:p>
        </p:txBody>
      </p:sp>
      <p:sp>
        <p:nvSpPr>
          <p:cNvPr id="18" name="Text 5"/>
          <p:cNvSpPr/>
          <p:nvPr/>
        </p:nvSpPr>
        <p:spPr>
          <a:xfrm>
            <a:off x="1354336" y="2124075"/>
            <a:ext cx="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50" dirty="0"/>
          </a:p>
        </p:txBody>
      </p:sp>
      <p:sp>
        <p:nvSpPr>
          <p:cNvPr id="19" name="Text 6"/>
          <p:cNvSpPr/>
          <p:nvPr/>
        </p:nvSpPr>
        <p:spPr>
          <a:xfrm>
            <a:off x="838200" y="2390775"/>
            <a:ext cx="52024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6A73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Specific data applications or dashboards</a:t>
            </a:r>
            <a:endParaRPr lang="en-US" sz="1350" dirty="0"/>
          </a:p>
        </p:txBody>
      </p:sp>
      <p:sp>
        <p:nvSpPr>
          <p:cNvPr id="20" name="Text 7"/>
          <p:cNvSpPr/>
          <p:nvPr/>
        </p:nvSpPr>
        <p:spPr>
          <a:xfrm>
            <a:off x="5173563" y="2390775"/>
            <a:ext cx="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50" dirty="0"/>
          </a:p>
        </p:txBody>
      </p:sp>
      <p:sp>
        <p:nvSpPr>
          <p:cNvPr id="21" name="Text 8"/>
          <p:cNvSpPr/>
          <p:nvPr/>
        </p:nvSpPr>
        <p:spPr>
          <a:xfrm>
            <a:off x="838200" y="2657475"/>
            <a:ext cx="24774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EA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sales-dashboard/</a:t>
            </a:r>
            <a:endParaRPr lang="en-US" sz="1350" dirty="0"/>
          </a:p>
        </p:txBody>
      </p:sp>
      <p:sp>
        <p:nvSpPr>
          <p:cNvPr id="22" name="Text 9"/>
          <p:cNvSpPr/>
          <p:nvPr/>
        </p:nvSpPr>
        <p:spPr>
          <a:xfrm>
            <a:off x="2902744" y="2657475"/>
            <a:ext cx="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50" dirty="0"/>
          </a:p>
        </p:txBody>
      </p:sp>
      <p:sp>
        <p:nvSpPr>
          <p:cNvPr id="23" name="Text 10"/>
          <p:cNvSpPr/>
          <p:nvPr/>
        </p:nvSpPr>
        <p:spPr>
          <a:xfrm>
            <a:off x="838200" y="2924175"/>
            <a:ext cx="32205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EA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fraud-detection-model/</a:t>
            </a:r>
            <a:endParaRPr lang="en-US" sz="1350" dirty="0"/>
          </a:p>
        </p:txBody>
      </p:sp>
      <p:sp>
        <p:nvSpPr>
          <p:cNvPr id="24" name="Text 11"/>
          <p:cNvSpPr/>
          <p:nvPr/>
        </p:nvSpPr>
        <p:spPr>
          <a:xfrm>
            <a:off x="3522018" y="2924175"/>
            <a:ext cx="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50" dirty="0"/>
          </a:p>
        </p:txBody>
      </p:sp>
      <p:sp>
        <p:nvSpPr>
          <p:cNvPr id="25" name="Text 12"/>
          <p:cNvSpPr/>
          <p:nvPr/>
        </p:nvSpPr>
        <p:spPr>
          <a:xfrm>
            <a:off x="838200" y="3190875"/>
            <a:ext cx="32205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EA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└── customer-segmentation/</a:t>
            </a:r>
            <a:endParaRPr lang="en-US" sz="1350" dirty="0"/>
          </a:p>
        </p:txBody>
      </p:sp>
      <p:sp>
        <p:nvSpPr>
          <p:cNvPr id="26" name="Text 13"/>
          <p:cNvSpPr/>
          <p:nvPr/>
        </p:nvSpPr>
        <p:spPr>
          <a:xfrm>
            <a:off x="3522018" y="3190875"/>
            <a:ext cx="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50" dirty="0"/>
          </a:p>
        </p:txBody>
      </p:sp>
      <p:sp>
        <p:nvSpPr>
          <p:cNvPr id="27" name="Text 14"/>
          <p:cNvSpPr/>
          <p:nvPr/>
        </p:nvSpPr>
        <p:spPr>
          <a:xfrm>
            <a:off x="838200" y="3457575"/>
            <a:ext cx="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50" dirty="0"/>
          </a:p>
        </p:txBody>
      </p:sp>
      <p:sp>
        <p:nvSpPr>
          <p:cNvPr id="28" name="Text 15"/>
          <p:cNvSpPr/>
          <p:nvPr/>
        </p:nvSpPr>
        <p:spPr>
          <a:xfrm>
            <a:off x="838200" y="3724275"/>
            <a:ext cx="11149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EA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packages/</a:t>
            </a:r>
            <a:endParaRPr lang="en-US" sz="1350" dirty="0"/>
          </a:p>
        </p:txBody>
      </p:sp>
      <p:sp>
        <p:nvSpPr>
          <p:cNvPr id="29" name="Text 16"/>
          <p:cNvSpPr/>
          <p:nvPr/>
        </p:nvSpPr>
        <p:spPr>
          <a:xfrm>
            <a:off x="1767334" y="3724275"/>
            <a:ext cx="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50" dirty="0"/>
          </a:p>
        </p:txBody>
      </p:sp>
      <p:sp>
        <p:nvSpPr>
          <p:cNvPr id="30" name="Text 17"/>
          <p:cNvSpPr/>
          <p:nvPr/>
        </p:nvSpPr>
        <p:spPr>
          <a:xfrm>
            <a:off x="838200" y="3990975"/>
            <a:ext cx="35922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6A73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Shared code for data access</a:t>
            </a:r>
            <a:endParaRPr lang="en-US" sz="1350" dirty="0"/>
          </a:p>
        </p:txBody>
      </p:sp>
      <p:sp>
        <p:nvSpPr>
          <p:cNvPr id="31" name="Text 18"/>
          <p:cNvSpPr/>
          <p:nvPr/>
        </p:nvSpPr>
        <p:spPr>
          <a:xfrm>
            <a:off x="3831729" y="3990975"/>
            <a:ext cx="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50" dirty="0"/>
          </a:p>
        </p:txBody>
      </p:sp>
      <p:sp>
        <p:nvSpPr>
          <p:cNvPr id="32" name="Text 19"/>
          <p:cNvSpPr/>
          <p:nvPr/>
        </p:nvSpPr>
        <p:spPr>
          <a:xfrm>
            <a:off x="838200" y="4257675"/>
            <a:ext cx="27251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EA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data-access-layer/</a:t>
            </a:r>
            <a:endParaRPr lang="en-US" sz="1350" dirty="0"/>
          </a:p>
        </p:txBody>
      </p:sp>
      <p:sp>
        <p:nvSpPr>
          <p:cNvPr id="33" name="Text 20"/>
          <p:cNvSpPr/>
          <p:nvPr/>
        </p:nvSpPr>
        <p:spPr>
          <a:xfrm>
            <a:off x="3109168" y="4257675"/>
            <a:ext cx="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50" dirty="0"/>
          </a:p>
        </p:txBody>
      </p:sp>
      <p:sp>
        <p:nvSpPr>
          <p:cNvPr id="34" name="Text 21"/>
          <p:cNvSpPr/>
          <p:nvPr/>
        </p:nvSpPr>
        <p:spPr>
          <a:xfrm>
            <a:off x="838200" y="4524375"/>
            <a:ext cx="43353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6A73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Reusable feature generation logic</a:t>
            </a:r>
            <a:endParaRPr lang="en-US" sz="1350" dirty="0"/>
          </a:p>
        </p:txBody>
      </p:sp>
      <p:sp>
        <p:nvSpPr>
          <p:cNvPr id="35" name="Text 22"/>
          <p:cNvSpPr/>
          <p:nvPr/>
        </p:nvSpPr>
        <p:spPr>
          <a:xfrm>
            <a:off x="4451003" y="4524375"/>
            <a:ext cx="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50" dirty="0"/>
          </a:p>
        </p:txBody>
      </p:sp>
      <p:sp>
        <p:nvSpPr>
          <p:cNvPr id="36" name="Text 23"/>
          <p:cNvSpPr/>
          <p:nvPr/>
        </p:nvSpPr>
        <p:spPr>
          <a:xfrm>
            <a:off x="838200" y="4791075"/>
            <a:ext cx="29728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EA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feature-engineering/</a:t>
            </a:r>
            <a:endParaRPr lang="en-US" sz="1350" dirty="0"/>
          </a:p>
        </p:txBody>
      </p:sp>
      <p:sp>
        <p:nvSpPr>
          <p:cNvPr id="37" name="Text 24"/>
          <p:cNvSpPr/>
          <p:nvPr/>
        </p:nvSpPr>
        <p:spPr>
          <a:xfrm>
            <a:off x="3315593" y="4791075"/>
            <a:ext cx="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50" dirty="0"/>
          </a:p>
        </p:txBody>
      </p:sp>
      <p:sp>
        <p:nvSpPr>
          <p:cNvPr id="38" name="Text 25"/>
          <p:cNvSpPr/>
          <p:nvPr/>
        </p:nvSpPr>
        <p:spPr>
          <a:xfrm>
            <a:off x="838200" y="5057775"/>
            <a:ext cx="33445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6A73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General utility functions</a:t>
            </a:r>
            <a:endParaRPr lang="en-US" sz="1350" dirty="0"/>
          </a:p>
        </p:txBody>
      </p:sp>
      <p:sp>
        <p:nvSpPr>
          <p:cNvPr id="39" name="Text 26"/>
          <p:cNvSpPr/>
          <p:nvPr/>
        </p:nvSpPr>
        <p:spPr>
          <a:xfrm>
            <a:off x="3625304" y="5057775"/>
            <a:ext cx="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50" dirty="0"/>
          </a:p>
        </p:txBody>
      </p:sp>
      <p:sp>
        <p:nvSpPr>
          <p:cNvPr id="40" name="Text 27"/>
          <p:cNvSpPr/>
          <p:nvPr/>
        </p:nvSpPr>
        <p:spPr>
          <a:xfrm>
            <a:off x="838200" y="5324475"/>
            <a:ext cx="21057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EA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├── common-utils/</a:t>
            </a:r>
            <a:endParaRPr lang="en-US" sz="1350" dirty="0"/>
          </a:p>
        </p:txBody>
      </p:sp>
      <p:sp>
        <p:nvSpPr>
          <p:cNvPr id="41" name="Text 28"/>
          <p:cNvSpPr/>
          <p:nvPr/>
        </p:nvSpPr>
        <p:spPr>
          <a:xfrm>
            <a:off x="2593032" y="5324475"/>
            <a:ext cx="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50" dirty="0"/>
          </a:p>
        </p:txBody>
      </p:sp>
      <p:sp>
        <p:nvSpPr>
          <p:cNvPr id="42" name="Text 29"/>
          <p:cNvSpPr/>
          <p:nvPr/>
        </p:nvSpPr>
        <p:spPr>
          <a:xfrm>
            <a:off x="838200" y="5591175"/>
            <a:ext cx="23535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EA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└── ml-base-models/</a:t>
            </a:r>
            <a:endParaRPr lang="en-US" sz="1350" dirty="0"/>
          </a:p>
        </p:txBody>
      </p:sp>
      <p:sp>
        <p:nvSpPr>
          <p:cNvPr id="43" name="Text 30"/>
          <p:cNvSpPr/>
          <p:nvPr/>
        </p:nvSpPr>
        <p:spPr>
          <a:xfrm>
            <a:off x="2799457" y="5591175"/>
            <a:ext cx="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50" dirty="0"/>
          </a:p>
        </p:txBody>
      </p:sp>
      <p:sp>
        <p:nvSpPr>
          <p:cNvPr id="44" name="Text 31"/>
          <p:cNvSpPr/>
          <p:nvPr/>
        </p:nvSpPr>
        <p:spPr>
          <a:xfrm>
            <a:off x="838200" y="5857875"/>
            <a:ext cx="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50" dirty="0"/>
          </a:p>
        </p:txBody>
      </p:sp>
      <p:sp>
        <p:nvSpPr>
          <p:cNvPr id="45" name="Text 32"/>
          <p:cNvSpPr/>
          <p:nvPr/>
        </p:nvSpPr>
        <p:spPr>
          <a:xfrm>
            <a:off x="838200" y="6124575"/>
            <a:ext cx="6193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EA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</a:t>
            </a:r>
            <a:endParaRPr lang="en-US" sz="1350" dirty="0"/>
          </a:p>
        </p:txBody>
      </p:sp>
      <p:sp>
        <p:nvSpPr>
          <p:cNvPr id="46" name="Text 33"/>
          <p:cNvSpPr/>
          <p:nvPr/>
        </p:nvSpPr>
        <p:spPr>
          <a:xfrm>
            <a:off x="1354336" y="6124575"/>
            <a:ext cx="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50" dirty="0"/>
          </a:p>
        </p:txBody>
      </p:sp>
      <p:sp>
        <p:nvSpPr>
          <p:cNvPr id="47" name="Text 34"/>
          <p:cNvSpPr/>
          <p:nvPr/>
        </p:nvSpPr>
        <p:spPr>
          <a:xfrm>
            <a:off x="838200" y="6391275"/>
            <a:ext cx="9910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EA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scripts/</a:t>
            </a:r>
            <a:endParaRPr lang="en-US" sz="1350" dirty="0"/>
          </a:p>
        </p:txBody>
      </p:sp>
      <p:sp>
        <p:nvSpPr>
          <p:cNvPr id="48" name="Text 35"/>
          <p:cNvSpPr/>
          <p:nvPr/>
        </p:nvSpPr>
        <p:spPr>
          <a:xfrm>
            <a:off x="1664047" y="6391275"/>
            <a:ext cx="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50" dirty="0"/>
          </a:p>
        </p:txBody>
      </p:sp>
      <p:sp>
        <p:nvSpPr>
          <p:cNvPr id="49" name="Text 36"/>
          <p:cNvSpPr/>
          <p:nvPr/>
        </p:nvSpPr>
        <p:spPr>
          <a:xfrm>
            <a:off x="838200" y="6657975"/>
            <a:ext cx="9910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EA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.github/</a:t>
            </a:r>
            <a:endParaRPr lang="en-US" sz="1350" dirty="0"/>
          </a:p>
        </p:txBody>
      </p:sp>
      <p:sp>
        <p:nvSpPr>
          <p:cNvPr id="50" name="Text 37"/>
          <p:cNvSpPr/>
          <p:nvPr/>
        </p:nvSpPr>
        <p:spPr>
          <a:xfrm>
            <a:off x="1664047" y="6657975"/>
            <a:ext cx="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50" dirty="0"/>
          </a:p>
        </p:txBody>
      </p:sp>
      <p:sp>
        <p:nvSpPr>
          <p:cNvPr id="51" name="Text 38"/>
          <p:cNvSpPr/>
          <p:nvPr/>
        </p:nvSpPr>
        <p:spPr>
          <a:xfrm>
            <a:off x="838200" y="6924675"/>
            <a:ext cx="17341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EA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└── workflows/</a:t>
            </a:r>
            <a:endParaRPr lang="en-US" sz="1350" dirty="0"/>
          </a:p>
        </p:txBody>
      </p:sp>
      <p:sp>
        <p:nvSpPr>
          <p:cNvPr id="52" name="Text 39"/>
          <p:cNvSpPr/>
          <p:nvPr/>
        </p:nvSpPr>
        <p:spPr>
          <a:xfrm>
            <a:off x="2283321" y="6924675"/>
            <a:ext cx="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50" dirty="0"/>
          </a:p>
        </p:txBody>
      </p:sp>
      <p:sp>
        <p:nvSpPr>
          <p:cNvPr id="53" name="Text 40"/>
          <p:cNvSpPr/>
          <p:nvPr/>
        </p:nvSpPr>
        <p:spPr>
          <a:xfrm>
            <a:off x="6553200" y="1752600"/>
            <a:ext cx="198149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apps/ 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Applications</a:t>
            </a:r>
            <a:endParaRPr lang="en-US" sz="1500" dirty="0"/>
          </a:p>
        </p:txBody>
      </p:sp>
      <p:sp>
        <p:nvSpPr>
          <p:cNvPr id="54" name="Text 41"/>
          <p:cNvSpPr/>
          <p:nvPr/>
        </p:nvSpPr>
        <p:spPr>
          <a:xfrm>
            <a:off x="6248400" y="209550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Contains specific data applications or dashboards</a:t>
            </a:r>
            <a:endParaRPr lang="en-US" sz="1200" dirty="0"/>
          </a:p>
        </p:txBody>
      </p:sp>
      <p:sp>
        <p:nvSpPr>
          <p:cNvPr id="55" name="Text 42"/>
          <p:cNvSpPr/>
          <p:nvPr/>
        </p:nvSpPr>
        <p:spPr>
          <a:xfrm>
            <a:off x="6534150" y="3581400"/>
            <a:ext cx="21024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packages/ 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Shared Code</a:t>
            </a:r>
            <a:endParaRPr lang="en-US" sz="1500" dirty="0"/>
          </a:p>
        </p:txBody>
      </p:sp>
      <p:sp>
        <p:nvSpPr>
          <p:cNvPr id="56" name="Text 43"/>
          <p:cNvSpPr/>
          <p:nvPr/>
        </p:nvSpPr>
        <p:spPr>
          <a:xfrm>
            <a:off x="6248400" y="3924300"/>
            <a:ext cx="518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Hosts shared modules for data access, feature engineering, and ML components</a:t>
            </a:r>
            <a:endParaRPr lang="en-US" sz="1200" dirty="0"/>
          </a:p>
        </p:txBody>
      </p:sp>
      <p:sp>
        <p:nvSpPr>
          <p:cNvPr id="57" name="Text 44"/>
          <p:cNvSpPr/>
          <p:nvPr/>
        </p:nvSpPr>
        <p:spPr>
          <a:xfrm>
            <a:off x="6581775" y="5638800"/>
            <a:ext cx="29744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docs/, scripts/, .github/</a:t>
            </a:r>
            <a:endParaRPr lang="en-US" sz="1500" dirty="0"/>
          </a:p>
        </p:txBody>
      </p:sp>
      <p:sp>
        <p:nvSpPr>
          <p:cNvPr id="58" name="Text 45"/>
          <p:cNvSpPr/>
          <p:nvPr/>
        </p:nvSpPr>
        <p:spPr>
          <a:xfrm>
            <a:off x="6248400" y="5981700"/>
            <a:ext cx="518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Standard directories for documentation, scripts, and CI/CD workflows</a:t>
            </a:r>
            <a:endParaRPr lang="en-US" sz="1200" dirty="0"/>
          </a:p>
        </p:txBody>
      </p:sp>
      <p:sp>
        <p:nvSpPr>
          <p:cNvPr id="59" name="Text 46"/>
          <p:cNvSpPr/>
          <p:nvPr/>
        </p:nvSpPr>
        <p:spPr>
          <a:xfrm>
            <a:off x="1047750" y="7791450"/>
            <a:ext cx="111160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This structure promotes organization, discoverability, and consistent practices across the team</a:t>
            </a:r>
            <a:endParaRPr lang="en-US" sz="1350" dirty="0"/>
          </a:p>
        </p:txBody>
      </p:sp>
      <p:sp>
        <p:nvSpPr>
          <p:cNvPr id="60" name="Text 47"/>
          <p:cNvSpPr/>
          <p:nvPr/>
        </p:nvSpPr>
        <p:spPr>
          <a:xfrm>
            <a:off x="11371808" y="8382000"/>
            <a:ext cx="527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 / 13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562100"/>
            <a:ext cx="3555950" cy="9906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71450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75" y="1819275"/>
            <a:ext cx="190500" cy="2667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7950" y="1562100"/>
            <a:ext cx="3555950" cy="9906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0350" y="1714500"/>
            <a:ext cx="476250" cy="4762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3225" y="1819275"/>
            <a:ext cx="190500" cy="2667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26301" y="1562100"/>
            <a:ext cx="3556099" cy="9906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78701" y="1714500"/>
            <a:ext cx="476250" cy="4762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21576" y="1819275"/>
            <a:ext cx="190500" cy="2667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3543300"/>
            <a:ext cx="5367933" cy="18288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06133" y="2781300"/>
            <a:ext cx="5376267" cy="25908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96633" y="3390900"/>
            <a:ext cx="171450" cy="152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96633" y="3695700"/>
            <a:ext cx="152400" cy="1524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609600" y="609600"/>
            <a:ext cx="13167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Smart CI/CD with GitHub Actions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609600" y="1066800"/>
            <a:ext cx="13167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Optimizing our development workflow with targeted executions</a:t>
            </a:r>
            <a:endParaRPr lang="en-US" sz="1500" dirty="0"/>
          </a:p>
        </p:txBody>
      </p:sp>
      <p:sp>
        <p:nvSpPr>
          <p:cNvPr id="19" name="Text 2"/>
          <p:cNvSpPr/>
          <p:nvPr/>
        </p:nvSpPr>
        <p:spPr>
          <a:xfrm>
            <a:off x="1352550" y="1714500"/>
            <a:ext cx="3192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Path Filtering</a:t>
            </a:r>
            <a:endParaRPr lang="en-US" sz="1350" dirty="0"/>
          </a:p>
        </p:txBody>
      </p:sp>
      <p:sp>
        <p:nvSpPr>
          <p:cNvPr id="20" name="Text 3"/>
          <p:cNvSpPr/>
          <p:nvPr/>
        </p:nvSpPr>
        <p:spPr>
          <a:xfrm>
            <a:off x="1352550" y="2019300"/>
            <a:ext cx="2660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Triggers workflows only for relevant code changes</a:t>
            </a:r>
            <a:endParaRPr lang="en-US" sz="1050" dirty="0"/>
          </a:p>
        </p:txBody>
      </p:sp>
      <p:sp>
        <p:nvSpPr>
          <p:cNvPr id="21" name="Text 4"/>
          <p:cNvSpPr/>
          <p:nvPr/>
        </p:nvSpPr>
        <p:spPr>
          <a:xfrm>
            <a:off x="5060900" y="1714500"/>
            <a:ext cx="3192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Matrix Builds</a:t>
            </a:r>
            <a:endParaRPr lang="en-US" sz="1350" dirty="0"/>
          </a:p>
        </p:txBody>
      </p:sp>
      <p:sp>
        <p:nvSpPr>
          <p:cNvPr id="22" name="Text 5"/>
          <p:cNvSpPr/>
          <p:nvPr/>
        </p:nvSpPr>
        <p:spPr>
          <a:xfrm>
            <a:off x="5060900" y="2019300"/>
            <a:ext cx="2660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Runs jobs in parallel across configurations</a:t>
            </a:r>
            <a:endParaRPr lang="en-US" sz="1050" dirty="0"/>
          </a:p>
        </p:txBody>
      </p:sp>
      <p:sp>
        <p:nvSpPr>
          <p:cNvPr id="23" name="Text 6"/>
          <p:cNvSpPr/>
          <p:nvPr/>
        </p:nvSpPr>
        <p:spPr>
          <a:xfrm>
            <a:off x="8769251" y="1714500"/>
            <a:ext cx="30307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Reusable Workflows</a:t>
            </a:r>
            <a:endParaRPr lang="en-US" sz="1350" dirty="0"/>
          </a:p>
        </p:txBody>
      </p:sp>
      <p:sp>
        <p:nvSpPr>
          <p:cNvPr id="24" name="Text 7"/>
          <p:cNvSpPr/>
          <p:nvPr/>
        </p:nvSpPr>
        <p:spPr>
          <a:xfrm>
            <a:off x="8769251" y="2019300"/>
            <a:ext cx="30307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Encapsulates common CI/CD patterns</a:t>
            </a:r>
            <a:endParaRPr lang="en-US" sz="1050" dirty="0"/>
          </a:p>
        </p:txBody>
      </p:sp>
      <p:sp>
        <p:nvSpPr>
          <p:cNvPr id="25" name="Text 8"/>
          <p:cNvSpPr/>
          <p:nvPr/>
        </p:nvSpPr>
        <p:spPr>
          <a:xfrm>
            <a:off x="609600" y="2781300"/>
            <a:ext cx="64415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Example: Path Filtering</a:t>
            </a:r>
            <a:endParaRPr lang="en-US" sz="1800" dirty="0"/>
          </a:p>
        </p:txBody>
      </p:sp>
      <p:sp>
        <p:nvSpPr>
          <p:cNvPr id="26" name="Text 9"/>
          <p:cNvSpPr/>
          <p:nvPr/>
        </p:nvSpPr>
        <p:spPr>
          <a:xfrm>
            <a:off x="609600" y="3200400"/>
            <a:ext cx="64415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Configure workflows to trigger only for specific paths:</a:t>
            </a:r>
            <a:endParaRPr lang="en-US" sz="1200" dirty="0"/>
          </a:p>
        </p:txBody>
      </p:sp>
      <p:sp>
        <p:nvSpPr>
          <p:cNvPr id="27" name="Text 10"/>
          <p:cNvSpPr/>
          <p:nvPr/>
        </p:nvSpPr>
        <p:spPr>
          <a:xfrm>
            <a:off x="762000" y="3714750"/>
            <a:ext cx="3120926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6F8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on: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6F8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push: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6F8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paths: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6F8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- 'apps/sales-dashboard/**'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6F8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- 'packages/data-access-layer/**'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6F8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pull_request: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6F8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paths: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6F8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- 'apps/sales-dashboard/**'</a:t>
            </a:r>
            <a:endParaRPr lang="en-US" sz="1050" dirty="0"/>
          </a:p>
        </p:txBody>
      </p:sp>
      <p:sp>
        <p:nvSpPr>
          <p:cNvPr id="28" name="Text 11"/>
          <p:cNvSpPr/>
          <p:nvPr/>
        </p:nvSpPr>
        <p:spPr>
          <a:xfrm>
            <a:off x="6396633" y="2971800"/>
            <a:ext cx="49952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Benefits</a:t>
            </a:r>
            <a:endParaRPr lang="en-US" sz="1500" dirty="0"/>
          </a:p>
        </p:txBody>
      </p:sp>
      <p:sp>
        <p:nvSpPr>
          <p:cNvPr id="29" name="Text 12"/>
          <p:cNvSpPr/>
          <p:nvPr/>
        </p:nvSpPr>
        <p:spPr>
          <a:xfrm>
            <a:off x="6682383" y="3352800"/>
            <a:ext cx="18670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Reduced build times</a:t>
            </a:r>
            <a:endParaRPr lang="en-US" sz="1200" dirty="0"/>
          </a:p>
        </p:txBody>
      </p:sp>
      <p:sp>
        <p:nvSpPr>
          <p:cNvPr id="30" name="Text 13"/>
          <p:cNvSpPr/>
          <p:nvPr/>
        </p:nvSpPr>
        <p:spPr>
          <a:xfrm>
            <a:off x="6663333" y="3657600"/>
            <a:ext cx="23952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Optimized resource usage</a:t>
            </a:r>
            <a:endParaRPr lang="en-US" sz="1200" dirty="0"/>
          </a:p>
        </p:txBody>
      </p:sp>
      <p:sp>
        <p:nvSpPr>
          <p:cNvPr id="31" name="Text 14"/>
          <p:cNvSpPr/>
          <p:nvPr/>
        </p:nvSpPr>
        <p:spPr>
          <a:xfrm>
            <a:off x="11371808" y="6400800"/>
            <a:ext cx="527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 / 13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00200"/>
            <a:ext cx="5334000" cy="30289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828800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075" y="1905000"/>
            <a:ext cx="171450" cy="3048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2438400"/>
            <a:ext cx="285750" cy="2857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875" y="2505075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2838450"/>
            <a:ext cx="285750" cy="2857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5825" y="2905125"/>
            <a:ext cx="190500" cy="1524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3238500"/>
            <a:ext cx="285750" cy="2857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4875" y="3305175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200" y="3676650"/>
            <a:ext cx="4876800" cy="7239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2500" y="3829050"/>
            <a:ext cx="171450" cy="1524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1600200"/>
            <a:ext cx="5334000" cy="30289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0" y="1828800"/>
            <a:ext cx="457200" cy="4572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77013" y="1905000"/>
            <a:ext cx="257175" cy="3048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0" y="2438400"/>
            <a:ext cx="285750" cy="2857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43675" y="2505075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77000" y="2838450"/>
            <a:ext cx="285750" cy="28575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62725" y="2905125"/>
            <a:ext cx="114300" cy="1524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77000" y="3238500"/>
            <a:ext cx="285750" cy="28575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43675" y="3305175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7000" y="3676650"/>
            <a:ext cx="4876800" cy="7239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91300" y="3829050"/>
            <a:ext cx="171450" cy="1524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09600" y="4857750"/>
            <a:ext cx="10972800" cy="8382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62000" y="5124450"/>
            <a:ext cx="171450" cy="3048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609600" y="609600"/>
            <a:ext cx="13167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Monorepo Tooling Comparison</a:t>
            </a:r>
            <a:endParaRPr lang="en-US" sz="2700" dirty="0"/>
          </a:p>
        </p:txBody>
      </p:sp>
      <p:sp>
        <p:nvSpPr>
          <p:cNvPr id="29" name="Text 1"/>
          <p:cNvSpPr/>
          <p:nvPr/>
        </p:nvSpPr>
        <p:spPr>
          <a:xfrm>
            <a:off x="609600" y="1104900"/>
            <a:ext cx="13167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Evaluating Nx versus Turborepo for managing our data monorepo</a:t>
            </a:r>
            <a:endParaRPr lang="en-US" sz="1500" dirty="0"/>
          </a:p>
        </p:txBody>
      </p:sp>
      <p:sp>
        <p:nvSpPr>
          <p:cNvPr id="30" name="Text 2"/>
          <p:cNvSpPr/>
          <p:nvPr/>
        </p:nvSpPr>
        <p:spPr>
          <a:xfrm>
            <a:off x="1447800" y="1905000"/>
            <a:ext cx="4066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Nx</a:t>
            </a:r>
            <a:endParaRPr lang="en-US" sz="1800" dirty="0"/>
          </a:p>
        </p:txBody>
      </p:sp>
      <p:sp>
        <p:nvSpPr>
          <p:cNvPr id="31" name="Text 3"/>
          <p:cNvSpPr/>
          <p:nvPr/>
        </p:nvSpPr>
        <p:spPr>
          <a:xfrm>
            <a:off x="1238250" y="2466975"/>
            <a:ext cx="17345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Developed by Nrwl</a:t>
            </a:r>
            <a:endParaRPr lang="en-US" sz="1200" dirty="0"/>
          </a:p>
        </p:txBody>
      </p:sp>
      <p:sp>
        <p:nvSpPr>
          <p:cNvPr id="32" name="Text 4"/>
          <p:cNvSpPr/>
          <p:nvPr/>
        </p:nvSpPr>
        <p:spPr>
          <a:xfrm>
            <a:off x="1238250" y="2867025"/>
            <a:ext cx="4434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Deep integration with Angular and JS ecosystem</a:t>
            </a:r>
            <a:endParaRPr lang="en-US" sz="1200" dirty="0"/>
          </a:p>
        </p:txBody>
      </p:sp>
      <p:sp>
        <p:nvSpPr>
          <p:cNvPr id="33" name="Text 5"/>
          <p:cNvSpPr/>
          <p:nvPr/>
        </p:nvSpPr>
        <p:spPr>
          <a:xfrm>
            <a:off x="1238250" y="3267075"/>
            <a:ext cx="235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Matured over many years</a:t>
            </a:r>
            <a:endParaRPr lang="en-US" sz="1200" dirty="0"/>
          </a:p>
        </p:txBody>
      </p:sp>
      <p:sp>
        <p:nvSpPr>
          <p:cNvPr id="34" name="Text 6"/>
          <p:cNvSpPr/>
          <p:nvPr/>
        </p:nvSpPr>
        <p:spPr>
          <a:xfrm>
            <a:off x="1200150" y="3790950"/>
            <a:ext cx="8918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Best for:</a:t>
            </a:r>
            <a:endParaRPr lang="en-US" sz="1200" dirty="0"/>
          </a:p>
        </p:txBody>
      </p:sp>
      <p:sp>
        <p:nvSpPr>
          <p:cNvPr id="35" name="Text 7"/>
          <p:cNvSpPr/>
          <p:nvPr/>
        </p:nvSpPr>
        <p:spPr>
          <a:xfrm>
            <a:off x="952500" y="405765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Projects with strong Angular/JavaScript dependencies</a:t>
            </a:r>
            <a:endParaRPr lang="en-US" sz="1200" dirty="0"/>
          </a:p>
        </p:txBody>
      </p:sp>
      <p:sp>
        <p:nvSpPr>
          <p:cNvPr id="36" name="Text 8"/>
          <p:cNvSpPr/>
          <p:nvPr/>
        </p:nvSpPr>
        <p:spPr>
          <a:xfrm>
            <a:off x="7086600" y="1905000"/>
            <a:ext cx="15785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Turborepo</a:t>
            </a:r>
            <a:endParaRPr lang="en-US" sz="1800" dirty="0"/>
          </a:p>
        </p:txBody>
      </p:sp>
      <p:sp>
        <p:nvSpPr>
          <p:cNvPr id="37" name="Text 9"/>
          <p:cNvSpPr/>
          <p:nvPr/>
        </p:nvSpPr>
        <p:spPr>
          <a:xfrm>
            <a:off x="6877050" y="2466975"/>
            <a:ext cx="188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Developed by Vercel</a:t>
            </a:r>
            <a:endParaRPr lang="en-US" sz="1200" dirty="0"/>
          </a:p>
        </p:txBody>
      </p:sp>
      <p:sp>
        <p:nvSpPr>
          <p:cNvPr id="38" name="Text 10"/>
          <p:cNvSpPr/>
          <p:nvPr/>
        </p:nvSpPr>
        <p:spPr>
          <a:xfrm>
            <a:off x="6877050" y="2867025"/>
            <a:ext cx="32098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Focus on performance and caching</a:t>
            </a:r>
            <a:endParaRPr lang="en-US" sz="1200" dirty="0"/>
          </a:p>
        </p:txBody>
      </p:sp>
      <p:sp>
        <p:nvSpPr>
          <p:cNvPr id="39" name="Text 11"/>
          <p:cNvSpPr/>
          <p:nvPr/>
        </p:nvSpPr>
        <p:spPr>
          <a:xfrm>
            <a:off x="6877050" y="3267075"/>
            <a:ext cx="416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Becoming de facto standard for JS ecosystem</a:t>
            </a:r>
            <a:endParaRPr lang="en-US" sz="1200" dirty="0"/>
          </a:p>
        </p:txBody>
      </p:sp>
      <p:sp>
        <p:nvSpPr>
          <p:cNvPr id="40" name="Text 12"/>
          <p:cNvSpPr/>
          <p:nvPr/>
        </p:nvSpPr>
        <p:spPr>
          <a:xfrm>
            <a:off x="6838950" y="3790950"/>
            <a:ext cx="8918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Best for:</a:t>
            </a:r>
            <a:endParaRPr lang="en-US" sz="1200" dirty="0"/>
          </a:p>
        </p:txBody>
      </p:sp>
      <p:sp>
        <p:nvSpPr>
          <p:cNvPr id="41" name="Text 13"/>
          <p:cNvSpPr/>
          <p:nvPr/>
        </p:nvSpPr>
        <p:spPr>
          <a:xfrm>
            <a:off x="6591300" y="405765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Performance-critical projects with complex builds</a:t>
            </a:r>
            <a:endParaRPr lang="en-US" sz="1200" dirty="0"/>
          </a:p>
        </p:txBody>
      </p:sp>
      <p:sp>
        <p:nvSpPr>
          <p:cNvPr id="42" name="Text 14"/>
          <p:cNvSpPr/>
          <p:nvPr/>
        </p:nvSpPr>
        <p:spPr>
          <a:xfrm>
            <a:off x="1047750" y="5010150"/>
            <a:ext cx="10382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Both tools offer powerful features for monorepo management, with Nx having deeper integration into the JavaScript ecosystem and Turborepo focusing on performance and caching.</a:t>
            </a:r>
            <a:endParaRPr lang="en-US" sz="1350" dirty="0"/>
          </a:p>
        </p:txBody>
      </p:sp>
      <p:sp>
        <p:nvSpPr>
          <p:cNvPr id="43" name="Text 15"/>
          <p:cNvSpPr/>
          <p:nvPr/>
        </p:nvSpPr>
        <p:spPr>
          <a:xfrm>
            <a:off x="11371808" y="6400800"/>
            <a:ext cx="527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 / 13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00200"/>
            <a:ext cx="5257800" cy="20002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82880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49555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283845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318135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3829050"/>
            <a:ext cx="5257800" cy="12192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4476750"/>
            <a:ext cx="171450" cy="3048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04046" y="4476750"/>
            <a:ext cx="228600" cy="3048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58382" y="447675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4600" y="2057400"/>
            <a:ext cx="2552700" cy="10287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29700" y="2057400"/>
            <a:ext cx="2552700" cy="10287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82100" y="2209800"/>
            <a:ext cx="190500" cy="2667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600" y="3238500"/>
            <a:ext cx="2552700" cy="10287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3390900"/>
            <a:ext cx="219075" cy="2667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29700" y="3238500"/>
            <a:ext cx="2552700" cy="10287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82100" y="3390900"/>
            <a:ext cx="171450" cy="2667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600" y="4495800"/>
            <a:ext cx="5257800" cy="9144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77000" y="4648200"/>
            <a:ext cx="219075" cy="2667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77000" y="4991100"/>
            <a:ext cx="171450" cy="2667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609600" y="609600"/>
            <a:ext cx="13167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Introducing uv - Modern Python Package Manager</a:t>
            </a:r>
            <a:endParaRPr lang="en-US" sz="2700" dirty="0"/>
          </a:p>
        </p:txBody>
      </p:sp>
      <p:sp>
        <p:nvSpPr>
          <p:cNvPr id="24" name="Text 1"/>
          <p:cNvSpPr/>
          <p:nvPr/>
        </p:nvSpPr>
        <p:spPr>
          <a:xfrm>
            <a:off x="609600" y="1104900"/>
            <a:ext cx="13167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Rust-powered unified tooling for Python development</a:t>
            </a:r>
            <a:endParaRPr lang="en-US" sz="1500" dirty="0"/>
          </a:p>
        </p:txBody>
      </p:sp>
      <p:sp>
        <p:nvSpPr>
          <p:cNvPr id="25" name="Text 2"/>
          <p:cNvSpPr/>
          <p:nvPr/>
        </p:nvSpPr>
        <p:spPr>
          <a:xfrm>
            <a:off x="1466850" y="1914525"/>
            <a:ext cx="1795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is uv?</a:t>
            </a:r>
            <a:endParaRPr lang="en-US" sz="1800" dirty="0"/>
          </a:p>
        </p:txBody>
      </p:sp>
      <p:sp>
        <p:nvSpPr>
          <p:cNvPr id="26" name="Text 3"/>
          <p:cNvSpPr/>
          <p:nvPr/>
        </p:nvSpPr>
        <p:spPr>
          <a:xfrm>
            <a:off x="1104900" y="2457450"/>
            <a:ext cx="45289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Modern, extremely fast Python package manager</a:t>
            </a:r>
            <a:endParaRPr lang="en-US" sz="1200" dirty="0"/>
          </a:p>
        </p:txBody>
      </p:sp>
      <p:sp>
        <p:nvSpPr>
          <p:cNvPr id="27" name="Text 4"/>
          <p:cNvSpPr/>
          <p:nvPr/>
        </p:nvSpPr>
        <p:spPr>
          <a:xfrm>
            <a:off x="1104900" y="2800350"/>
            <a:ext cx="33005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Developed by Astral, written in Rust</a:t>
            </a:r>
            <a:endParaRPr lang="en-US" sz="1200" dirty="0"/>
          </a:p>
        </p:txBody>
      </p:sp>
      <p:sp>
        <p:nvSpPr>
          <p:cNvPr id="28" name="Text 5"/>
          <p:cNvSpPr/>
          <p:nvPr/>
        </p:nvSpPr>
        <p:spPr>
          <a:xfrm>
            <a:off x="1104900" y="3143250"/>
            <a:ext cx="3617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Unifies multiple traditional Python tools</a:t>
            </a:r>
            <a:endParaRPr lang="en-US" sz="1200" dirty="0"/>
          </a:p>
        </p:txBody>
      </p:sp>
      <p:sp>
        <p:nvSpPr>
          <p:cNvPr id="29" name="Text 6"/>
          <p:cNvSpPr/>
          <p:nvPr/>
        </p:nvSpPr>
        <p:spPr>
          <a:xfrm>
            <a:off x="800100" y="4019550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Core Design Goals</a:t>
            </a:r>
            <a:endParaRPr lang="en-US" sz="1500" dirty="0"/>
          </a:p>
        </p:txBody>
      </p:sp>
      <p:sp>
        <p:nvSpPr>
          <p:cNvPr id="30" name="Text 7"/>
          <p:cNvSpPr/>
          <p:nvPr/>
        </p:nvSpPr>
        <p:spPr>
          <a:xfrm>
            <a:off x="1085850" y="4400550"/>
            <a:ext cx="15181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Superior Performance</a:t>
            </a:r>
            <a:endParaRPr lang="en-US" sz="1200" dirty="0"/>
          </a:p>
        </p:txBody>
      </p:sp>
      <p:sp>
        <p:nvSpPr>
          <p:cNvPr id="31" name="Text 8"/>
          <p:cNvSpPr/>
          <p:nvPr/>
        </p:nvSpPr>
        <p:spPr>
          <a:xfrm>
            <a:off x="2946946" y="4400550"/>
            <a:ext cx="1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Unified Tooling</a:t>
            </a:r>
            <a:endParaRPr lang="en-US" sz="1200" dirty="0"/>
          </a:p>
        </p:txBody>
      </p:sp>
      <p:sp>
        <p:nvSpPr>
          <p:cNvPr id="32" name="Text 9"/>
          <p:cNvSpPr/>
          <p:nvPr/>
        </p:nvSpPr>
        <p:spPr>
          <a:xfrm>
            <a:off x="4301282" y="4400550"/>
            <a:ext cx="1375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Broad Compatibility</a:t>
            </a:r>
            <a:endParaRPr lang="en-US" sz="1200" dirty="0"/>
          </a:p>
        </p:txBody>
      </p:sp>
      <p:sp>
        <p:nvSpPr>
          <p:cNvPr id="33" name="Text 10"/>
          <p:cNvSpPr/>
          <p:nvPr/>
        </p:nvSpPr>
        <p:spPr>
          <a:xfrm>
            <a:off x="6324600" y="1600200"/>
            <a:ext cx="63093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Replaces Traditional Tools</a:t>
            </a:r>
            <a:endParaRPr lang="en-US" sz="1800" dirty="0"/>
          </a:p>
        </p:txBody>
      </p:sp>
      <p:sp>
        <p:nvSpPr>
          <p:cNvPr id="34" name="Text 11"/>
          <p:cNvSpPr/>
          <p:nvPr/>
        </p:nvSpPr>
        <p:spPr>
          <a:xfrm>
            <a:off x="6591300" y="2209800"/>
            <a:ext cx="3184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pip</a:t>
            </a:r>
            <a:endParaRPr lang="en-US" sz="1350" dirty="0"/>
          </a:p>
        </p:txBody>
      </p:sp>
      <p:sp>
        <p:nvSpPr>
          <p:cNvPr id="35" name="Text 12"/>
          <p:cNvSpPr/>
          <p:nvPr/>
        </p:nvSpPr>
        <p:spPr>
          <a:xfrm>
            <a:off x="6477000" y="2552700"/>
            <a:ext cx="2247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Package installation and management</a:t>
            </a:r>
            <a:endParaRPr lang="en-US" sz="1050" dirty="0"/>
          </a:p>
        </p:txBody>
      </p:sp>
      <p:sp>
        <p:nvSpPr>
          <p:cNvPr id="36" name="Text 13"/>
          <p:cNvSpPr/>
          <p:nvPr/>
        </p:nvSpPr>
        <p:spPr>
          <a:xfrm>
            <a:off x="9486900" y="2209800"/>
            <a:ext cx="10365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virtualenv</a:t>
            </a:r>
            <a:endParaRPr lang="en-US" sz="1350" dirty="0"/>
          </a:p>
        </p:txBody>
      </p:sp>
      <p:sp>
        <p:nvSpPr>
          <p:cNvPr id="37" name="Text 14"/>
          <p:cNvSpPr/>
          <p:nvPr/>
        </p:nvSpPr>
        <p:spPr>
          <a:xfrm>
            <a:off x="9182100" y="2552700"/>
            <a:ext cx="2247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Virtual environment management</a:t>
            </a:r>
            <a:endParaRPr lang="en-US" sz="1050" dirty="0"/>
          </a:p>
        </p:txBody>
      </p:sp>
      <p:sp>
        <p:nvSpPr>
          <p:cNvPr id="38" name="Text 15"/>
          <p:cNvSpPr/>
          <p:nvPr/>
        </p:nvSpPr>
        <p:spPr>
          <a:xfrm>
            <a:off x="6810375" y="3390900"/>
            <a:ext cx="6700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poetry</a:t>
            </a:r>
            <a:endParaRPr lang="en-US" sz="1350" dirty="0"/>
          </a:p>
        </p:txBody>
      </p:sp>
      <p:sp>
        <p:nvSpPr>
          <p:cNvPr id="39" name="Text 16"/>
          <p:cNvSpPr/>
          <p:nvPr/>
        </p:nvSpPr>
        <p:spPr>
          <a:xfrm>
            <a:off x="6477000" y="3733800"/>
            <a:ext cx="2247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Dependency management and packaging</a:t>
            </a:r>
            <a:endParaRPr lang="en-US" sz="1050" dirty="0"/>
          </a:p>
        </p:txBody>
      </p:sp>
      <p:sp>
        <p:nvSpPr>
          <p:cNvPr id="40" name="Text 17"/>
          <p:cNvSpPr/>
          <p:nvPr/>
        </p:nvSpPr>
        <p:spPr>
          <a:xfrm>
            <a:off x="9467850" y="3390900"/>
            <a:ext cx="8893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pip-tools</a:t>
            </a:r>
            <a:endParaRPr lang="en-US" sz="1350" dirty="0"/>
          </a:p>
        </p:txBody>
      </p:sp>
      <p:sp>
        <p:nvSpPr>
          <p:cNvPr id="41" name="Text 18"/>
          <p:cNvSpPr/>
          <p:nvPr/>
        </p:nvSpPr>
        <p:spPr>
          <a:xfrm>
            <a:off x="9182100" y="3733800"/>
            <a:ext cx="2697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Transitive dependency resolution</a:t>
            </a:r>
            <a:endParaRPr lang="en-US" sz="1050" dirty="0"/>
          </a:p>
        </p:txBody>
      </p:sp>
      <p:sp>
        <p:nvSpPr>
          <p:cNvPr id="42" name="Text 19"/>
          <p:cNvSpPr/>
          <p:nvPr/>
        </p:nvSpPr>
        <p:spPr>
          <a:xfrm>
            <a:off x="6810375" y="4667250"/>
            <a:ext cx="15364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pip install uv</a:t>
            </a:r>
            <a:endParaRPr lang="en-US" sz="1200" dirty="0"/>
          </a:p>
        </p:txBody>
      </p:sp>
      <p:sp>
        <p:nvSpPr>
          <p:cNvPr id="43" name="Text 20"/>
          <p:cNvSpPr/>
          <p:nvPr/>
        </p:nvSpPr>
        <p:spPr>
          <a:xfrm>
            <a:off x="6762750" y="5010150"/>
            <a:ext cx="40808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One tool, one interface, maximum efficiency</a:t>
            </a:r>
            <a:endParaRPr lang="en-US" sz="1200" dirty="0"/>
          </a:p>
        </p:txBody>
      </p:sp>
      <p:sp>
        <p:nvSpPr>
          <p:cNvPr id="44" name="Text 21"/>
          <p:cNvSpPr/>
          <p:nvPr/>
        </p:nvSpPr>
        <p:spPr>
          <a:xfrm>
            <a:off x="11371808" y="6400800"/>
            <a:ext cx="527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 / 13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00200"/>
            <a:ext cx="5257800" cy="1143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1790700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25" y="1924050"/>
            <a:ext cx="171450" cy="3048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933700"/>
            <a:ext cx="5257800" cy="11430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3124200"/>
            <a:ext cx="571500" cy="5715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1550" y="3257550"/>
            <a:ext cx="228600" cy="3048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4267200"/>
            <a:ext cx="5257800" cy="11430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4457700"/>
            <a:ext cx="571500" cy="571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7263" y="4591050"/>
            <a:ext cx="257175" cy="3048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0" y="1600200"/>
            <a:ext cx="5486400" cy="38100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500" y="2209800"/>
            <a:ext cx="5105400" cy="24384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5638800"/>
            <a:ext cx="10972800" cy="6096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000" y="5791200"/>
            <a:ext cx="209550" cy="3048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609600" y="6096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</a:t>
            </a:r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uv</a:t>
            </a:r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Advantage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609600" y="1104900"/>
            <a:ext cx="13167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Why modern Python development requires a faster, unified approach</a:t>
            </a:r>
            <a:endParaRPr lang="en-US" sz="1500" dirty="0"/>
          </a:p>
        </p:txBody>
      </p:sp>
      <p:sp>
        <p:nvSpPr>
          <p:cNvPr id="19" name="Text 2"/>
          <p:cNvSpPr/>
          <p:nvPr/>
        </p:nvSpPr>
        <p:spPr>
          <a:xfrm>
            <a:off x="1524000" y="1790700"/>
            <a:ext cx="4152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Blazing Speed</a:t>
            </a:r>
            <a:endParaRPr lang="en-US" sz="1500" dirty="0"/>
          </a:p>
        </p:txBody>
      </p:sp>
      <p:sp>
        <p:nvSpPr>
          <p:cNvPr id="20" name="Text 3"/>
          <p:cNvSpPr/>
          <p:nvPr/>
        </p:nvSpPr>
        <p:spPr>
          <a:xfrm>
            <a:off x="1524000" y="2095500"/>
            <a:ext cx="4152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8-10x faster than pip without cache, up to 80-115x faster with warm cache</a:t>
            </a:r>
            <a:endParaRPr lang="en-US" sz="1200" dirty="0"/>
          </a:p>
        </p:txBody>
      </p:sp>
      <p:sp>
        <p:nvSpPr>
          <p:cNvPr id="21" name="Text 4"/>
          <p:cNvSpPr/>
          <p:nvPr/>
        </p:nvSpPr>
        <p:spPr>
          <a:xfrm>
            <a:off x="1524000" y="3124200"/>
            <a:ext cx="4152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Unified Tooling</a:t>
            </a:r>
            <a:endParaRPr lang="en-US" sz="1500" dirty="0"/>
          </a:p>
        </p:txBody>
      </p:sp>
      <p:sp>
        <p:nvSpPr>
          <p:cNvPr id="22" name="Text 5"/>
          <p:cNvSpPr/>
          <p:nvPr/>
        </p:nvSpPr>
        <p:spPr>
          <a:xfrm>
            <a:off x="1524000" y="3429000"/>
            <a:ext cx="4152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Consolidates package management, virtual environments, Python versions, and more</a:t>
            </a:r>
            <a:endParaRPr lang="en-US" sz="1200" dirty="0"/>
          </a:p>
        </p:txBody>
      </p:sp>
      <p:sp>
        <p:nvSpPr>
          <p:cNvPr id="23" name="Text 6"/>
          <p:cNvSpPr/>
          <p:nvPr/>
        </p:nvSpPr>
        <p:spPr>
          <a:xfrm>
            <a:off x="1524000" y="4457700"/>
            <a:ext cx="4983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Simplified Workflows</a:t>
            </a:r>
            <a:endParaRPr lang="en-US" sz="1500" dirty="0"/>
          </a:p>
        </p:txBody>
      </p:sp>
      <p:sp>
        <p:nvSpPr>
          <p:cNvPr id="24" name="Text 7"/>
          <p:cNvSpPr/>
          <p:nvPr/>
        </p:nvSpPr>
        <p:spPr>
          <a:xfrm>
            <a:off x="1524000" y="4762500"/>
            <a:ext cx="4152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Automatic virtual environment management and robust lockfiles</a:t>
            </a:r>
            <a:endParaRPr lang="en-US" sz="1200" dirty="0"/>
          </a:p>
        </p:txBody>
      </p:sp>
      <p:sp>
        <p:nvSpPr>
          <p:cNvPr id="25" name="Text 8"/>
          <p:cNvSpPr/>
          <p:nvPr/>
        </p:nvSpPr>
        <p:spPr>
          <a:xfrm>
            <a:off x="6286500" y="1790700"/>
            <a:ext cx="510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Performance Comparison</a:t>
            </a:r>
            <a:endParaRPr lang="en-US" sz="1500" dirty="0"/>
          </a:p>
        </p:txBody>
      </p:sp>
      <p:sp>
        <p:nvSpPr>
          <p:cNvPr id="26" name="Text 9"/>
          <p:cNvSpPr/>
          <p:nvPr/>
        </p:nvSpPr>
        <p:spPr>
          <a:xfrm>
            <a:off x="6286500" y="4762500"/>
            <a:ext cx="510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*Based on real-world benchmarks</a:t>
            </a:r>
            <a:endParaRPr lang="en-US" sz="1050" dirty="0"/>
          </a:p>
        </p:txBody>
      </p:sp>
      <p:sp>
        <p:nvSpPr>
          <p:cNvPr id="27" name="Text 10"/>
          <p:cNvSpPr/>
          <p:nvPr/>
        </p:nvSpPr>
        <p:spPr>
          <a:xfrm>
            <a:off x="1085850" y="5810250"/>
            <a:ext cx="58576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uv = pip + pip-tools + virtualenv + parts of poetry</a:t>
            </a:r>
            <a:endParaRPr lang="en-US" sz="1350" dirty="0"/>
          </a:p>
        </p:txBody>
      </p:sp>
      <p:sp>
        <p:nvSpPr>
          <p:cNvPr id="28" name="Text 11"/>
          <p:cNvSpPr/>
          <p:nvPr/>
        </p:nvSpPr>
        <p:spPr>
          <a:xfrm>
            <a:off x="11274921" y="6400800"/>
            <a:ext cx="643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 / 13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21042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21042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00200"/>
            <a:ext cx="2309961" cy="4572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9561" y="1600200"/>
            <a:ext cx="2887563" cy="4572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3861" y="1752600"/>
            <a:ext cx="171450" cy="1524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7125" y="1600200"/>
            <a:ext cx="2887563" cy="4572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1425" y="17526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4688" y="1600200"/>
            <a:ext cx="2887712" cy="4572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08988" y="1752600"/>
            <a:ext cx="114300" cy="1524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2057400"/>
            <a:ext cx="2309961" cy="6858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19561" y="2057400"/>
            <a:ext cx="2887563" cy="6858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33861" y="2324100"/>
            <a:ext cx="114300" cy="152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07125" y="2057400"/>
            <a:ext cx="2887563" cy="6858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21425" y="23241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94688" y="2057400"/>
            <a:ext cx="2887712" cy="6858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08988" y="2324100"/>
            <a:ext cx="171450" cy="1524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" y="2743200"/>
            <a:ext cx="10972800" cy="6858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" y="2743200"/>
            <a:ext cx="2309961" cy="6858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919561" y="2743200"/>
            <a:ext cx="2887563" cy="6858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033861" y="30099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807125" y="2743200"/>
            <a:ext cx="2887563" cy="6858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921425" y="3009900"/>
            <a:ext cx="171450" cy="1524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694688" y="2743200"/>
            <a:ext cx="2887712" cy="6858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808988" y="3009900"/>
            <a:ext cx="190500" cy="1524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09600" y="3429000"/>
            <a:ext cx="2309961" cy="6858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919561" y="3429000"/>
            <a:ext cx="2887563" cy="6858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033861" y="3695700"/>
            <a:ext cx="133350" cy="15240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807125" y="3429000"/>
            <a:ext cx="2887563" cy="68580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921425" y="3695700"/>
            <a:ext cx="133350" cy="152400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694688" y="3429000"/>
            <a:ext cx="2887712" cy="685800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808988" y="3695700"/>
            <a:ext cx="133350" cy="152400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09600" y="4114800"/>
            <a:ext cx="10972800" cy="685800"/>
          </a:xfrm>
          <a:prstGeom prst="rect">
            <a:avLst/>
          </a:prstGeom>
        </p:spPr>
      </p:pic>
      <p:pic>
        <p:nvPicPr>
          <p:cNvPr id="34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09600" y="4114800"/>
            <a:ext cx="2309961" cy="685800"/>
          </a:xfrm>
          <a:prstGeom prst="rect">
            <a:avLst/>
          </a:prstGeom>
        </p:spPr>
      </p:pic>
      <p:pic>
        <p:nvPicPr>
          <p:cNvPr id="35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919561" y="4114800"/>
            <a:ext cx="2887563" cy="685800"/>
          </a:xfrm>
          <a:prstGeom prst="rect">
            <a:avLst/>
          </a:prstGeom>
        </p:spPr>
      </p:pic>
      <p:pic>
        <p:nvPicPr>
          <p:cNvPr id="36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033861" y="4381500"/>
            <a:ext cx="133350" cy="152400"/>
          </a:xfrm>
          <a:prstGeom prst="rect">
            <a:avLst/>
          </a:prstGeom>
        </p:spPr>
      </p:pic>
      <p:pic>
        <p:nvPicPr>
          <p:cNvPr id="37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807125" y="4114800"/>
            <a:ext cx="2887563" cy="685800"/>
          </a:xfrm>
          <a:prstGeom prst="rect">
            <a:avLst/>
          </a:prstGeom>
        </p:spPr>
      </p:pic>
      <p:pic>
        <p:nvPicPr>
          <p:cNvPr id="38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921425" y="4381500"/>
            <a:ext cx="152400" cy="152400"/>
          </a:xfrm>
          <a:prstGeom prst="rect">
            <a:avLst/>
          </a:prstGeom>
        </p:spPr>
      </p:pic>
      <p:pic>
        <p:nvPicPr>
          <p:cNvPr id="3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694688" y="4114800"/>
            <a:ext cx="2887712" cy="685800"/>
          </a:xfrm>
          <a:prstGeom prst="rect">
            <a:avLst/>
          </a:prstGeom>
        </p:spPr>
      </p:pic>
      <p:pic>
        <p:nvPicPr>
          <p:cNvPr id="40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808988" y="4381500"/>
            <a:ext cx="152400" cy="152400"/>
          </a:xfrm>
          <a:prstGeom prst="rect">
            <a:avLst/>
          </a:prstGeom>
        </p:spPr>
      </p:pic>
      <p:pic>
        <p:nvPicPr>
          <p:cNvPr id="41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09600" y="4800600"/>
            <a:ext cx="2309961" cy="685800"/>
          </a:xfrm>
          <a:prstGeom prst="rect">
            <a:avLst/>
          </a:prstGeom>
        </p:spPr>
      </p:pic>
      <p:pic>
        <p:nvPicPr>
          <p:cNvPr id="42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919561" y="4800600"/>
            <a:ext cx="2887563" cy="685800"/>
          </a:xfrm>
          <a:prstGeom prst="rect">
            <a:avLst/>
          </a:prstGeom>
        </p:spPr>
      </p:pic>
      <p:pic>
        <p:nvPicPr>
          <p:cNvPr id="43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033861" y="5067300"/>
            <a:ext cx="152400" cy="152400"/>
          </a:xfrm>
          <a:prstGeom prst="rect">
            <a:avLst/>
          </a:prstGeom>
        </p:spPr>
      </p:pic>
      <p:pic>
        <p:nvPicPr>
          <p:cNvPr id="44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807125" y="4800600"/>
            <a:ext cx="2887563" cy="685800"/>
          </a:xfrm>
          <a:prstGeom prst="rect">
            <a:avLst/>
          </a:prstGeom>
        </p:spPr>
      </p:pic>
      <p:pic>
        <p:nvPicPr>
          <p:cNvPr id="45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921425" y="5067300"/>
            <a:ext cx="152400" cy="152400"/>
          </a:xfrm>
          <a:prstGeom prst="rect">
            <a:avLst/>
          </a:prstGeom>
        </p:spPr>
      </p:pic>
      <p:pic>
        <p:nvPicPr>
          <p:cNvPr id="46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8694688" y="4800600"/>
            <a:ext cx="2887712" cy="685800"/>
          </a:xfrm>
          <a:prstGeom prst="rect">
            <a:avLst/>
          </a:prstGeom>
        </p:spPr>
      </p:pic>
      <p:pic>
        <p:nvPicPr>
          <p:cNvPr id="47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8808988" y="5067300"/>
            <a:ext cx="152400" cy="152400"/>
          </a:xfrm>
          <a:prstGeom prst="rect">
            <a:avLst/>
          </a:prstGeom>
        </p:spPr>
      </p:pic>
      <p:pic>
        <p:nvPicPr>
          <p:cNvPr id="48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09600" y="5762625"/>
            <a:ext cx="10972800" cy="838200"/>
          </a:xfrm>
          <a:prstGeom prst="rect">
            <a:avLst/>
          </a:prstGeom>
        </p:spPr>
      </p:pic>
      <p:pic>
        <p:nvPicPr>
          <p:cNvPr id="49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62000" y="6029325"/>
            <a:ext cx="171450" cy="304800"/>
          </a:xfrm>
          <a:prstGeom prst="rect">
            <a:avLst/>
          </a:prstGeom>
        </p:spPr>
      </p:pic>
      <p:sp>
        <p:nvSpPr>
          <p:cNvPr id="50" name="Text 0"/>
          <p:cNvSpPr/>
          <p:nvPr/>
        </p:nvSpPr>
        <p:spPr>
          <a:xfrm>
            <a:off x="609600" y="609600"/>
            <a:ext cx="13167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uv vs Current Tools Comparison</a:t>
            </a:r>
            <a:endParaRPr lang="en-US" sz="2700" dirty="0"/>
          </a:p>
        </p:txBody>
      </p:sp>
      <p:sp>
        <p:nvSpPr>
          <p:cNvPr id="51" name="Text 1"/>
          <p:cNvSpPr/>
          <p:nvPr/>
        </p:nvSpPr>
        <p:spPr>
          <a:xfrm>
            <a:off x="609600" y="1104900"/>
            <a:ext cx="13167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Evaluating performance, dependency resolution, lockfile support, and environment handling</a:t>
            </a:r>
            <a:endParaRPr lang="en-US" sz="1500" dirty="0"/>
          </a:p>
        </p:txBody>
      </p:sp>
      <p:sp>
        <p:nvSpPr>
          <p:cNvPr id="52" name="Text 2"/>
          <p:cNvSpPr/>
          <p:nvPr/>
        </p:nvSpPr>
        <p:spPr>
          <a:xfrm>
            <a:off x="723900" y="1600200"/>
            <a:ext cx="2771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Feature/Aspect</a:t>
            </a:r>
            <a:endParaRPr lang="en-US" sz="1200" dirty="0"/>
          </a:p>
        </p:txBody>
      </p:sp>
      <p:sp>
        <p:nvSpPr>
          <p:cNvPr id="53" name="Text 3"/>
          <p:cNvSpPr/>
          <p:nvPr/>
        </p:nvSpPr>
        <p:spPr>
          <a:xfrm>
            <a:off x="3281511" y="1714500"/>
            <a:ext cx="2658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pip &amp; venv</a:t>
            </a:r>
            <a:endParaRPr lang="en-US" sz="1200" dirty="0"/>
          </a:p>
        </p:txBody>
      </p:sp>
      <p:sp>
        <p:nvSpPr>
          <p:cNvPr id="54" name="Text 4"/>
          <p:cNvSpPr/>
          <p:nvPr/>
        </p:nvSpPr>
        <p:spPr>
          <a:xfrm>
            <a:off x="6150025" y="1714500"/>
            <a:ext cx="2658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Poetry</a:t>
            </a:r>
            <a:endParaRPr lang="en-US" sz="1200" dirty="0"/>
          </a:p>
        </p:txBody>
      </p:sp>
      <p:sp>
        <p:nvSpPr>
          <p:cNvPr id="55" name="Text 5"/>
          <p:cNvSpPr/>
          <p:nvPr/>
        </p:nvSpPr>
        <p:spPr>
          <a:xfrm>
            <a:off x="8999488" y="1714500"/>
            <a:ext cx="265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uv</a:t>
            </a:r>
            <a:endParaRPr lang="en-US" sz="1200" dirty="0"/>
          </a:p>
        </p:txBody>
      </p:sp>
      <p:sp>
        <p:nvSpPr>
          <p:cNvPr id="56" name="Text 6"/>
          <p:cNvSpPr/>
          <p:nvPr/>
        </p:nvSpPr>
        <p:spPr>
          <a:xfrm>
            <a:off x="723900" y="2057400"/>
            <a:ext cx="23099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Speed</a:t>
            </a:r>
            <a:endParaRPr lang="en-US" sz="1200" dirty="0"/>
          </a:p>
        </p:txBody>
      </p:sp>
      <p:sp>
        <p:nvSpPr>
          <p:cNvPr id="57" name="Text 7"/>
          <p:cNvSpPr/>
          <p:nvPr/>
        </p:nvSpPr>
        <p:spPr>
          <a:xfrm>
            <a:off x="3224361" y="2286000"/>
            <a:ext cx="2658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Moderate/Slow</a:t>
            </a:r>
            <a:endParaRPr lang="en-US" sz="1200" dirty="0"/>
          </a:p>
        </p:txBody>
      </p:sp>
      <p:sp>
        <p:nvSpPr>
          <p:cNvPr id="58" name="Text 8"/>
          <p:cNvSpPr/>
          <p:nvPr/>
        </p:nvSpPr>
        <p:spPr>
          <a:xfrm>
            <a:off x="6150025" y="2286000"/>
            <a:ext cx="2658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Moderate</a:t>
            </a:r>
            <a:endParaRPr lang="en-US" sz="1200" dirty="0"/>
          </a:p>
        </p:txBody>
      </p:sp>
      <p:sp>
        <p:nvSpPr>
          <p:cNvPr id="59" name="Text 9"/>
          <p:cNvSpPr/>
          <p:nvPr/>
        </p:nvSpPr>
        <p:spPr>
          <a:xfrm>
            <a:off x="9056638" y="2171700"/>
            <a:ext cx="265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8x-100x faster (Rust-based resolver)</a:t>
            </a:r>
            <a:endParaRPr lang="en-US" sz="1200" dirty="0"/>
          </a:p>
        </p:txBody>
      </p:sp>
      <p:sp>
        <p:nvSpPr>
          <p:cNvPr id="60" name="Text 10"/>
          <p:cNvSpPr/>
          <p:nvPr/>
        </p:nvSpPr>
        <p:spPr>
          <a:xfrm>
            <a:off x="723900" y="2743200"/>
            <a:ext cx="2771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Dependency Resolution</a:t>
            </a:r>
            <a:endParaRPr lang="en-US" sz="1200" dirty="0"/>
          </a:p>
        </p:txBody>
      </p:sp>
      <p:sp>
        <p:nvSpPr>
          <p:cNvPr id="61" name="Text 11"/>
          <p:cNvSpPr/>
          <p:nvPr/>
        </p:nvSpPr>
        <p:spPr>
          <a:xfrm>
            <a:off x="3262461" y="2971800"/>
            <a:ext cx="3190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Basic, sequential</a:t>
            </a:r>
            <a:endParaRPr lang="en-US" sz="1200" dirty="0"/>
          </a:p>
        </p:txBody>
      </p:sp>
      <p:sp>
        <p:nvSpPr>
          <p:cNvPr id="62" name="Text 12"/>
          <p:cNvSpPr/>
          <p:nvPr/>
        </p:nvSpPr>
        <p:spPr>
          <a:xfrm>
            <a:off x="6169075" y="2857500"/>
            <a:ext cx="26589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Advanced solver, slower on large graphs</a:t>
            </a:r>
            <a:endParaRPr lang="en-US" sz="1200" dirty="0"/>
          </a:p>
        </p:txBody>
      </p:sp>
      <p:sp>
        <p:nvSpPr>
          <p:cNvPr id="63" name="Text 13"/>
          <p:cNvSpPr/>
          <p:nvPr/>
        </p:nvSpPr>
        <p:spPr>
          <a:xfrm>
            <a:off x="9075688" y="2857500"/>
            <a:ext cx="265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Advanced, parallel, optimized, deterministic</a:t>
            </a:r>
            <a:endParaRPr lang="en-US" sz="1200" dirty="0"/>
          </a:p>
        </p:txBody>
      </p:sp>
      <p:sp>
        <p:nvSpPr>
          <p:cNvPr id="64" name="Text 14"/>
          <p:cNvSpPr/>
          <p:nvPr/>
        </p:nvSpPr>
        <p:spPr>
          <a:xfrm>
            <a:off x="723900" y="3429000"/>
            <a:ext cx="2771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Lockfile Support</a:t>
            </a:r>
            <a:endParaRPr lang="en-US" sz="1200" dirty="0"/>
          </a:p>
        </p:txBody>
      </p:sp>
      <p:sp>
        <p:nvSpPr>
          <p:cNvPr id="65" name="Text 15"/>
          <p:cNvSpPr/>
          <p:nvPr/>
        </p:nvSpPr>
        <p:spPr>
          <a:xfrm>
            <a:off x="3243411" y="3657600"/>
            <a:ext cx="3190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pip freeze (weak locking)</a:t>
            </a:r>
            <a:endParaRPr lang="en-US" sz="1200" dirty="0"/>
          </a:p>
        </p:txBody>
      </p:sp>
      <p:sp>
        <p:nvSpPr>
          <p:cNvPr id="66" name="Text 16"/>
          <p:cNvSpPr/>
          <p:nvPr/>
        </p:nvSpPr>
        <p:spPr>
          <a:xfrm>
            <a:off x="6130975" y="3657600"/>
            <a:ext cx="3190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Strong lock via poetry.lock</a:t>
            </a:r>
            <a:endParaRPr lang="en-US" sz="1200" dirty="0"/>
          </a:p>
        </p:txBody>
      </p:sp>
      <p:sp>
        <p:nvSpPr>
          <p:cNvPr id="67" name="Text 17"/>
          <p:cNvSpPr/>
          <p:nvPr/>
        </p:nvSpPr>
        <p:spPr>
          <a:xfrm>
            <a:off x="9018538" y="3543300"/>
            <a:ext cx="265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Robust uv.lock &amp; universal lockfiles</a:t>
            </a:r>
            <a:endParaRPr lang="en-US" sz="1200" dirty="0"/>
          </a:p>
        </p:txBody>
      </p:sp>
      <p:sp>
        <p:nvSpPr>
          <p:cNvPr id="68" name="Text 18"/>
          <p:cNvSpPr/>
          <p:nvPr/>
        </p:nvSpPr>
        <p:spPr>
          <a:xfrm>
            <a:off x="723900" y="4114800"/>
            <a:ext cx="23099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Virtual Environment Handling</a:t>
            </a:r>
            <a:endParaRPr lang="en-US" sz="1200" dirty="0"/>
          </a:p>
        </p:txBody>
      </p:sp>
      <p:sp>
        <p:nvSpPr>
          <p:cNvPr id="69" name="Text 19"/>
          <p:cNvSpPr/>
          <p:nvPr/>
        </p:nvSpPr>
        <p:spPr>
          <a:xfrm>
            <a:off x="3243411" y="4343400"/>
            <a:ext cx="3190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Manual with venv/virtualenv</a:t>
            </a:r>
            <a:endParaRPr lang="en-US" sz="1200" dirty="0"/>
          </a:p>
        </p:txBody>
      </p:sp>
      <p:sp>
        <p:nvSpPr>
          <p:cNvPr id="70" name="Text 20"/>
          <p:cNvSpPr/>
          <p:nvPr/>
        </p:nvSpPr>
        <p:spPr>
          <a:xfrm>
            <a:off x="6150025" y="4343400"/>
            <a:ext cx="3190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Integrated &amp; automatic</a:t>
            </a:r>
            <a:endParaRPr lang="en-US" sz="1200" dirty="0"/>
          </a:p>
        </p:txBody>
      </p:sp>
      <p:sp>
        <p:nvSpPr>
          <p:cNvPr id="71" name="Text 21"/>
          <p:cNvSpPr/>
          <p:nvPr/>
        </p:nvSpPr>
        <p:spPr>
          <a:xfrm>
            <a:off x="9037588" y="4343400"/>
            <a:ext cx="31909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Integrated, very fast, seamless</a:t>
            </a:r>
            <a:endParaRPr lang="en-US" sz="1200" dirty="0"/>
          </a:p>
        </p:txBody>
      </p:sp>
      <p:sp>
        <p:nvSpPr>
          <p:cNvPr id="72" name="Text 22"/>
          <p:cNvSpPr/>
          <p:nvPr/>
        </p:nvSpPr>
        <p:spPr>
          <a:xfrm>
            <a:off x="723900" y="4800600"/>
            <a:ext cx="23099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Python Version Management</a:t>
            </a:r>
            <a:endParaRPr lang="en-US" sz="1200" dirty="0"/>
          </a:p>
        </p:txBody>
      </p:sp>
      <p:sp>
        <p:nvSpPr>
          <p:cNvPr id="73" name="Text 23"/>
          <p:cNvSpPr/>
          <p:nvPr/>
        </p:nvSpPr>
        <p:spPr>
          <a:xfrm>
            <a:off x="3262461" y="5029200"/>
            <a:ext cx="3190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External tool (pyenv)</a:t>
            </a:r>
            <a:endParaRPr lang="en-US" sz="1200" dirty="0"/>
          </a:p>
        </p:txBody>
      </p:sp>
      <p:sp>
        <p:nvSpPr>
          <p:cNvPr id="74" name="Text 24"/>
          <p:cNvSpPr/>
          <p:nvPr/>
        </p:nvSpPr>
        <p:spPr>
          <a:xfrm>
            <a:off x="6150025" y="5029200"/>
            <a:ext cx="3190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Partial (external needed)</a:t>
            </a:r>
            <a:endParaRPr lang="en-US" sz="1200" dirty="0"/>
          </a:p>
        </p:txBody>
      </p:sp>
      <p:sp>
        <p:nvSpPr>
          <p:cNvPr id="75" name="Text 25"/>
          <p:cNvSpPr/>
          <p:nvPr/>
        </p:nvSpPr>
        <p:spPr>
          <a:xfrm>
            <a:off x="9037588" y="4914900"/>
            <a:ext cx="265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Built-in Python installer and versioning</a:t>
            </a:r>
            <a:endParaRPr lang="en-US" sz="1200" dirty="0"/>
          </a:p>
        </p:txBody>
      </p:sp>
      <p:sp>
        <p:nvSpPr>
          <p:cNvPr id="76" name="Text 26"/>
          <p:cNvSpPr/>
          <p:nvPr/>
        </p:nvSpPr>
        <p:spPr>
          <a:xfrm>
            <a:off x="1047750" y="5915025"/>
            <a:ext cx="10382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Takeaway: </a:t>
            </a:r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uv</a:t>
            </a:r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offers significant advantages in speed, dependency resolution, and unified tooling compared to traditional tools</a:t>
            </a:r>
            <a:endParaRPr lang="en-US" sz="1350" dirty="0"/>
          </a:p>
        </p:txBody>
      </p:sp>
      <p:sp>
        <p:nvSpPr>
          <p:cNvPr id="77" name="Text 27"/>
          <p:cNvSpPr/>
          <p:nvPr/>
        </p:nvSpPr>
        <p:spPr>
          <a:xfrm>
            <a:off x="11274921" y="6753225"/>
            <a:ext cx="643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11 / 13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1600200"/>
            <a:ext cx="190500" cy="190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2628900"/>
            <a:ext cx="190500" cy="190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" y="3657600"/>
            <a:ext cx="190500" cy="190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" y="4686300"/>
            <a:ext cx="190500" cy="1905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1600200"/>
            <a:ext cx="5486400" cy="38862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2247900"/>
            <a:ext cx="38100" cy="23622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2247900"/>
            <a:ext cx="4876800" cy="23622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400" y="2286000"/>
            <a:ext cx="190500" cy="152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29400" y="29337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9400" y="35814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29400" y="42291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5638800"/>
            <a:ext cx="10972800" cy="6096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000" y="5791200"/>
            <a:ext cx="171450" cy="3048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609600" y="6096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Unified Workflow in Action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609600" y="1104900"/>
            <a:ext cx="13167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real-world scenario demonstrating our integrated development cycle</a:t>
            </a:r>
            <a:endParaRPr lang="en-US" sz="1500" dirty="0"/>
          </a:p>
        </p:txBody>
      </p:sp>
      <p:sp>
        <p:nvSpPr>
          <p:cNvPr id="19" name="Text 2"/>
          <p:cNvSpPr/>
          <p:nvPr/>
        </p:nvSpPr>
        <p:spPr>
          <a:xfrm>
            <a:off x="914400" y="1600200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1. Code Change</a:t>
            </a:r>
            <a:endParaRPr lang="en-US" sz="1500" dirty="0"/>
          </a:p>
        </p:txBody>
      </p:sp>
      <p:sp>
        <p:nvSpPr>
          <p:cNvPr id="20" name="Text 3"/>
          <p:cNvSpPr/>
          <p:nvPr/>
        </p:nvSpPr>
        <p:spPr>
          <a:xfrm>
            <a:off x="914400" y="1943100"/>
            <a:ext cx="487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scientist modifies shared feature engineering library and ML model in a single PR</a:t>
            </a:r>
            <a:endParaRPr lang="en-US" sz="1200" dirty="0"/>
          </a:p>
        </p:txBody>
      </p:sp>
      <p:sp>
        <p:nvSpPr>
          <p:cNvPr id="21" name="Text 4"/>
          <p:cNvSpPr/>
          <p:nvPr/>
        </p:nvSpPr>
        <p:spPr>
          <a:xfrm>
            <a:off x="914400" y="2628900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2. Automated Testing</a:t>
            </a:r>
            <a:endParaRPr lang="en-US" sz="1500" dirty="0"/>
          </a:p>
        </p:txBody>
      </p:sp>
      <p:sp>
        <p:nvSpPr>
          <p:cNvPr id="22" name="Text 5"/>
          <p:cNvSpPr/>
          <p:nvPr/>
        </p:nvSpPr>
        <p:spPr>
          <a:xfrm>
            <a:off x="914400" y="2971800"/>
            <a:ext cx="487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GitHub Actions detects changes and triggers targeted tests for affected components</a:t>
            </a:r>
            <a:endParaRPr lang="en-US" sz="1200" dirty="0"/>
          </a:p>
        </p:txBody>
      </p:sp>
      <p:sp>
        <p:nvSpPr>
          <p:cNvPr id="23" name="Text 6"/>
          <p:cNvSpPr/>
          <p:nvPr/>
        </p:nvSpPr>
        <p:spPr>
          <a:xfrm>
            <a:off x="914400" y="3657600"/>
            <a:ext cx="58521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3. Fast Dependency Setup</a:t>
            </a:r>
            <a:endParaRPr lang="en-US" sz="1500" dirty="0"/>
          </a:p>
        </p:txBody>
      </p:sp>
      <p:sp>
        <p:nvSpPr>
          <p:cNvPr id="24" name="Text 7"/>
          <p:cNvSpPr/>
          <p:nvPr/>
        </p:nvSpPr>
        <p:spPr>
          <a:xfrm>
            <a:off x="914400" y="4000500"/>
            <a:ext cx="487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uv efficiently installs dependencies with 8-10x faster performance</a:t>
            </a:r>
            <a:endParaRPr lang="en-US" sz="1200" dirty="0"/>
          </a:p>
        </p:txBody>
      </p:sp>
      <p:sp>
        <p:nvSpPr>
          <p:cNvPr id="25" name="Text 8"/>
          <p:cNvSpPr/>
          <p:nvPr/>
        </p:nvSpPr>
        <p:spPr>
          <a:xfrm>
            <a:off x="914400" y="4686300"/>
            <a:ext cx="58521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4. Seamless Deployment</a:t>
            </a:r>
            <a:endParaRPr lang="en-US" sz="1500" dirty="0"/>
          </a:p>
        </p:txBody>
      </p:sp>
      <p:sp>
        <p:nvSpPr>
          <p:cNvPr id="26" name="Text 9"/>
          <p:cNvSpPr/>
          <p:nvPr/>
        </p:nvSpPr>
        <p:spPr>
          <a:xfrm>
            <a:off x="914400" y="5029200"/>
            <a:ext cx="487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Updated model and library deploy automatically with zero-downtime</a:t>
            </a:r>
            <a:endParaRPr lang="en-US" sz="1200" dirty="0"/>
          </a:p>
        </p:txBody>
      </p:sp>
      <p:sp>
        <p:nvSpPr>
          <p:cNvPr id="27" name="Text 10"/>
          <p:cNvSpPr/>
          <p:nvPr/>
        </p:nvSpPr>
        <p:spPr>
          <a:xfrm>
            <a:off x="5821680" y="1828800"/>
            <a:ext cx="6035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Integrated Development Cycle</a:t>
            </a:r>
            <a:endParaRPr lang="en-US" sz="1500" dirty="0"/>
          </a:p>
        </p:txBody>
      </p:sp>
      <p:sp>
        <p:nvSpPr>
          <p:cNvPr id="28" name="Text 11"/>
          <p:cNvSpPr/>
          <p:nvPr/>
        </p:nvSpPr>
        <p:spPr>
          <a:xfrm>
            <a:off x="6896100" y="2247900"/>
            <a:ext cx="1370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29" name="Text 12"/>
          <p:cNvSpPr/>
          <p:nvPr/>
        </p:nvSpPr>
        <p:spPr>
          <a:xfrm>
            <a:off x="6629400" y="2476500"/>
            <a:ext cx="56692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Shared codebase enables seamless collaboration</a:t>
            </a:r>
            <a:endParaRPr lang="en-US" sz="1050" dirty="0"/>
          </a:p>
        </p:txBody>
      </p:sp>
      <p:sp>
        <p:nvSpPr>
          <p:cNvPr id="30" name="Text 13"/>
          <p:cNvSpPr/>
          <p:nvPr/>
        </p:nvSpPr>
        <p:spPr>
          <a:xfrm>
            <a:off x="6858000" y="2895600"/>
            <a:ext cx="744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Testing</a:t>
            </a:r>
            <a:endParaRPr lang="en-US" sz="1200" dirty="0"/>
          </a:p>
        </p:txBody>
      </p:sp>
      <p:sp>
        <p:nvSpPr>
          <p:cNvPr id="31" name="Text 14"/>
          <p:cNvSpPr/>
          <p:nvPr/>
        </p:nvSpPr>
        <p:spPr>
          <a:xfrm>
            <a:off x="6629400" y="3124200"/>
            <a:ext cx="56692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Path filtering ensures only relevant tests run</a:t>
            </a:r>
            <a:endParaRPr lang="en-US" sz="1050" dirty="0"/>
          </a:p>
        </p:txBody>
      </p:sp>
      <p:sp>
        <p:nvSpPr>
          <p:cNvPr id="32" name="Text 15"/>
          <p:cNvSpPr/>
          <p:nvPr/>
        </p:nvSpPr>
        <p:spPr>
          <a:xfrm>
            <a:off x="6858000" y="3543300"/>
            <a:ext cx="1246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3" name="Text 16"/>
          <p:cNvSpPr/>
          <p:nvPr/>
        </p:nvSpPr>
        <p:spPr>
          <a:xfrm>
            <a:off x="6629400" y="3771900"/>
            <a:ext cx="56692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Unified CI/CD pipelines for consistent releases</a:t>
            </a:r>
            <a:endParaRPr lang="en-US" sz="1050" dirty="0"/>
          </a:p>
        </p:txBody>
      </p:sp>
      <p:sp>
        <p:nvSpPr>
          <p:cNvPr id="34" name="Text 17"/>
          <p:cNvSpPr/>
          <p:nvPr/>
        </p:nvSpPr>
        <p:spPr>
          <a:xfrm>
            <a:off x="6858000" y="4191000"/>
            <a:ext cx="11276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35" name="Text 18"/>
          <p:cNvSpPr/>
          <p:nvPr/>
        </p:nvSpPr>
        <p:spPr>
          <a:xfrm>
            <a:off x="6629400" y="4419600"/>
            <a:ext cx="56692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Real-time insights into model performance</a:t>
            </a:r>
            <a:endParaRPr lang="en-US" sz="1050" dirty="0"/>
          </a:p>
        </p:txBody>
      </p:sp>
      <p:sp>
        <p:nvSpPr>
          <p:cNvPr id="36" name="Text 19"/>
          <p:cNvSpPr/>
          <p:nvPr/>
        </p:nvSpPr>
        <p:spPr>
          <a:xfrm>
            <a:off x="1047750" y="5810250"/>
            <a:ext cx="9974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Result: 8-10x faster development cycle with unified tooling and automated workflows</a:t>
            </a:r>
            <a:endParaRPr lang="en-US" sz="1350" dirty="0"/>
          </a:p>
        </p:txBody>
      </p:sp>
      <p:sp>
        <p:nvSpPr>
          <p:cNvPr id="37" name="Text 20"/>
          <p:cNvSpPr/>
          <p:nvPr/>
        </p:nvSpPr>
        <p:spPr>
          <a:xfrm>
            <a:off x="11274921" y="6400800"/>
            <a:ext cx="643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12 / 13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190750"/>
            <a:ext cx="109728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0140" y="1905000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1590" y="203835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619375"/>
            <a:ext cx="2072580" cy="13335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5121" y="1905000"/>
            <a:ext cx="571500" cy="5715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0858" y="2038350"/>
            <a:ext cx="200025" cy="3048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34580" y="2619375"/>
            <a:ext cx="2072580" cy="16002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10101" y="1905000"/>
            <a:ext cx="571500" cy="571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52976" y="2038350"/>
            <a:ext cx="285750" cy="3048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59561" y="2619375"/>
            <a:ext cx="2072729" cy="15621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35230" y="1905000"/>
            <a:ext cx="571500" cy="5715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78105" y="2038350"/>
            <a:ext cx="285750" cy="3048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84690" y="2619375"/>
            <a:ext cx="2072580" cy="16002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60211" y="1905000"/>
            <a:ext cx="571500" cy="5715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45948" y="2038350"/>
            <a:ext cx="200025" cy="3048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09671" y="2619375"/>
            <a:ext cx="2072729" cy="13335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600" y="4676775"/>
            <a:ext cx="10972800" cy="9906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0100" y="4905375"/>
            <a:ext cx="190500" cy="1905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0100" y="5286375"/>
            <a:ext cx="171450" cy="1524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381500" y="5286375"/>
            <a:ext cx="190500" cy="1524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962900" y="5286375"/>
            <a:ext cx="152400" cy="1524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609600" y="6096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Implementation Roadmap</a:t>
            </a:r>
            <a:endParaRPr lang="en-US" sz="2700" dirty="0"/>
          </a:p>
        </p:txBody>
      </p:sp>
      <p:sp>
        <p:nvSpPr>
          <p:cNvPr id="26" name="Text 1"/>
          <p:cNvSpPr/>
          <p:nvPr/>
        </p:nvSpPr>
        <p:spPr>
          <a:xfrm>
            <a:off x="609600" y="1104900"/>
            <a:ext cx="13167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five-step plan to transition to our unified monorepo workflow</a:t>
            </a:r>
            <a:endParaRPr lang="en-US" sz="1500" dirty="0"/>
          </a:p>
        </p:txBody>
      </p:sp>
      <p:sp>
        <p:nvSpPr>
          <p:cNvPr id="27" name="Text 2"/>
          <p:cNvSpPr/>
          <p:nvPr/>
        </p:nvSpPr>
        <p:spPr>
          <a:xfrm>
            <a:off x="585222" y="2771775"/>
            <a:ext cx="21213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1. Pilot Project</a:t>
            </a:r>
            <a:endParaRPr lang="en-US" sz="1350" dirty="0"/>
          </a:p>
        </p:txBody>
      </p:sp>
      <p:sp>
        <p:nvSpPr>
          <p:cNvPr id="28" name="Text 3"/>
          <p:cNvSpPr/>
          <p:nvPr/>
        </p:nvSpPr>
        <p:spPr>
          <a:xfrm>
            <a:off x="762000" y="3114675"/>
            <a:ext cx="17677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Start a small pilot project to validate the monorepo setup</a:t>
            </a:r>
            <a:endParaRPr lang="en-US" sz="1200" dirty="0"/>
          </a:p>
        </p:txBody>
      </p:sp>
      <p:sp>
        <p:nvSpPr>
          <p:cNvPr id="29" name="Text 4"/>
          <p:cNvSpPr/>
          <p:nvPr/>
        </p:nvSpPr>
        <p:spPr>
          <a:xfrm>
            <a:off x="2986980" y="2771775"/>
            <a:ext cx="17677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2. Utility Migration</a:t>
            </a:r>
            <a:endParaRPr lang="en-US" sz="1350" dirty="0"/>
          </a:p>
        </p:txBody>
      </p:sp>
      <p:sp>
        <p:nvSpPr>
          <p:cNvPr id="30" name="Text 5"/>
          <p:cNvSpPr/>
          <p:nvPr/>
        </p:nvSpPr>
        <p:spPr>
          <a:xfrm>
            <a:off x="2986980" y="3381375"/>
            <a:ext cx="17677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Migrate a frequently used shared utility library to packages/</a:t>
            </a:r>
            <a:endParaRPr lang="en-US" sz="1200" dirty="0"/>
          </a:p>
        </p:txBody>
      </p:sp>
      <p:sp>
        <p:nvSpPr>
          <p:cNvPr id="31" name="Text 6"/>
          <p:cNvSpPr/>
          <p:nvPr/>
        </p:nvSpPr>
        <p:spPr>
          <a:xfrm>
            <a:off x="5035168" y="2771775"/>
            <a:ext cx="21215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3. Training</a:t>
            </a:r>
            <a:endParaRPr lang="en-US" sz="1350" dirty="0"/>
          </a:p>
        </p:txBody>
      </p:sp>
      <p:sp>
        <p:nvSpPr>
          <p:cNvPr id="32" name="Text 7"/>
          <p:cNvSpPr/>
          <p:nvPr/>
        </p:nvSpPr>
        <p:spPr>
          <a:xfrm>
            <a:off x="5211961" y="3114675"/>
            <a:ext cx="176792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Conduct a workshop on using uv for dependency management</a:t>
            </a:r>
            <a:endParaRPr lang="en-US" sz="1200" dirty="0"/>
          </a:p>
        </p:txBody>
      </p:sp>
      <p:sp>
        <p:nvSpPr>
          <p:cNvPr id="33" name="Text 8"/>
          <p:cNvSpPr/>
          <p:nvPr/>
        </p:nvSpPr>
        <p:spPr>
          <a:xfrm>
            <a:off x="7437090" y="2771775"/>
            <a:ext cx="17677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4. CI/CD Development</a:t>
            </a:r>
            <a:endParaRPr lang="en-US" sz="1350" dirty="0"/>
          </a:p>
        </p:txBody>
      </p:sp>
      <p:sp>
        <p:nvSpPr>
          <p:cNvPr id="34" name="Text 9"/>
          <p:cNvSpPr/>
          <p:nvPr/>
        </p:nvSpPr>
        <p:spPr>
          <a:xfrm>
            <a:off x="7437090" y="3381375"/>
            <a:ext cx="17677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 GitHub Actions workflows with path filtering</a:t>
            </a:r>
            <a:endParaRPr lang="en-US" sz="1200" dirty="0"/>
          </a:p>
        </p:txBody>
      </p:sp>
      <p:sp>
        <p:nvSpPr>
          <p:cNvPr id="35" name="Text 10"/>
          <p:cNvSpPr/>
          <p:nvPr/>
        </p:nvSpPr>
        <p:spPr>
          <a:xfrm>
            <a:off x="9485278" y="2771775"/>
            <a:ext cx="21215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5. Documentation</a:t>
            </a:r>
            <a:endParaRPr lang="en-US" sz="1350" dirty="0"/>
          </a:p>
        </p:txBody>
      </p:sp>
      <p:sp>
        <p:nvSpPr>
          <p:cNvPr id="36" name="Text 11"/>
          <p:cNvSpPr/>
          <p:nvPr/>
        </p:nvSpPr>
        <p:spPr>
          <a:xfrm>
            <a:off x="9662071" y="3114675"/>
            <a:ext cx="17679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Establish clear guidelines for monorepo usage</a:t>
            </a:r>
            <a:endParaRPr lang="en-US" sz="1200" dirty="0"/>
          </a:p>
        </p:txBody>
      </p:sp>
      <p:sp>
        <p:nvSpPr>
          <p:cNvPr id="37" name="Text 12"/>
          <p:cNvSpPr/>
          <p:nvPr/>
        </p:nvSpPr>
        <p:spPr>
          <a:xfrm>
            <a:off x="1104900" y="4867275"/>
            <a:ext cx="10591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Expected Outcomes</a:t>
            </a:r>
            <a:endParaRPr lang="en-US" sz="1500" dirty="0"/>
          </a:p>
        </p:txBody>
      </p:sp>
      <p:sp>
        <p:nvSpPr>
          <p:cNvPr id="38" name="Text 13"/>
          <p:cNvSpPr/>
          <p:nvPr/>
        </p:nvSpPr>
        <p:spPr>
          <a:xfrm>
            <a:off x="1047750" y="5248275"/>
            <a:ext cx="32496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Streamlined development workflow</a:t>
            </a:r>
            <a:endParaRPr lang="en-US" sz="1200" dirty="0"/>
          </a:p>
        </p:txBody>
      </p:sp>
      <p:sp>
        <p:nvSpPr>
          <p:cNvPr id="39" name="Text 14"/>
          <p:cNvSpPr/>
          <p:nvPr/>
        </p:nvSpPr>
        <p:spPr>
          <a:xfrm>
            <a:off x="4648200" y="5248275"/>
            <a:ext cx="2650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Improved team collaboration</a:t>
            </a:r>
            <a:endParaRPr lang="en-US" sz="1200" dirty="0"/>
          </a:p>
        </p:txBody>
      </p:sp>
      <p:sp>
        <p:nvSpPr>
          <p:cNvPr id="40" name="Text 15"/>
          <p:cNvSpPr/>
          <p:nvPr/>
        </p:nvSpPr>
        <p:spPr>
          <a:xfrm>
            <a:off x="8191500" y="5248275"/>
            <a:ext cx="2797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Reduced dependency conflicts</a:t>
            </a:r>
            <a:endParaRPr lang="en-US" sz="1200" dirty="0"/>
          </a:p>
        </p:txBody>
      </p:sp>
      <p:sp>
        <p:nvSpPr>
          <p:cNvPr id="41" name="Text 16"/>
          <p:cNvSpPr/>
          <p:nvPr/>
        </p:nvSpPr>
        <p:spPr>
          <a:xfrm>
            <a:off x="11274921" y="6400800"/>
            <a:ext cx="643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13 / 13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2025-11-05T05:58:10Z</dcterms:created>
  <dcterms:modified xsi:type="dcterms:W3CDTF">2025-11-05T05:58:10Z</dcterms:modified>
</cp:coreProperties>
</file>