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pn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pn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png"/><Relationship Id="rId23" Type="http://schemas.openxmlformats.org/officeDocument/2006/relationships/image" Target="../media/image-13-23.png"/><Relationship Id="rId24" Type="http://schemas.openxmlformats.org/officeDocument/2006/relationships/image" Target="../media/image-13-24.png"/><Relationship Id="rId25" Type="http://schemas.openxmlformats.org/officeDocument/2006/relationships/image" Target="../media/image-13-25.png"/><Relationship Id="rId26" Type="http://schemas.openxmlformats.org/officeDocument/2006/relationships/image" Target="../media/image-13-26.png"/><Relationship Id="rId27" Type="http://schemas.openxmlformats.org/officeDocument/2006/relationships/image" Target="../media/image-13-27.png"/><Relationship Id="rId28" Type="http://schemas.openxmlformats.org/officeDocument/2006/relationships/image" Target="../media/image-13-28.png"/><Relationship Id="rId29" Type="http://schemas.openxmlformats.org/officeDocument/2006/relationships/image" Target="../media/image-13-29.png"/><Relationship Id="rId30" Type="http://schemas.openxmlformats.org/officeDocument/2006/relationships/image" Target="../media/image-13-30.png"/><Relationship Id="rId31" Type="http://schemas.openxmlformats.org/officeDocument/2006/relationships/image" Target="../media/image-13-31.png"/><Relationship Id="rId32" Type="http://schemas.openxmlformats.org/officeDocument/2006/relationships/image" Target="../media/image-13-32.png"/><Relationship Id="rId33" Type="http://schemas.openxmlformats.org/officeDocument/2006/relationships/image" Target="../media/image-13-33.png"/><Relationship Id="rId34" Type="http://schemas.openxmlformats.org/officeDocument/2006/relationships/image" Target="../media/image-13-34.png"/><Relationship Id="rId35" Type="http://schemas.openxmlformats.org/officeDocument/2006/relationships/image" Target="../media/image-13-35.pn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png"/><Relationship Id="rId21" Type="http://schemas.openxmlformats.org/officeDocument/2006/relationships/image" Target="../media/image-14-21.png"/><Relationship Id="rId22" Type="http://schemas.openxmlformats.org/officeDocument/2006/relationships/image" Target="../media/image-14-22.png"/><Relationship Id="rId23" Type="http://schemas.openxmlformats.org/officeDocument/2006/relationships/image" Target="../media/image-14-23.png"/><Relationship Id="rId24" Type="http://schemas.openxmlformats.org/officeDocument/2006/relationships/image" Target="../media/image-14-24.png"/><Relationship Id="rId25" Type="http://schemas.openxmlformats.org/officeDocument/2006/relationships/image" Target="../media/image-14-25.png"/><Relationship Id="rId26" Type="http://schemas.openxmlformats.org/officeDocument/2006/relationships/image" Target="../media/image-14-26.png"/><Relationship Id="rId27" Type="http://schemas.openxmlformats.org/officeDocument/2006/relationships/image" Target="../media/image-14-27.png"/><Relationship Id="rId28" Type="http://schemas.openxmlformats.org/officeDocument/2006/relationships/image" Target="../media/image-14-28.png"/><Relationship Id="rId29" Type="http://schemas.openxmlformats.org/officeDocument/2006/relationships/image" Target="../media/image-14-29.png"/><Relationship Id="rId30" Type="http://schemas.openxmlformats.org/officeDocument/2006/relationships/image" Target="../media/image-14-30.png"/><Relationship Id="rId31" Type="http://schemas.openxmlformats.org/officeDocument/2006/relationships/image" Target="../media/image-14-31.png"/><Relationship Id="rId32" Type="http://schemas.openxmlformats.org/officeDocument/2006/relationships/image" Target="../media/image-14-32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5715000"/>
            <a:ext cx="1981200" cy="762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2971800"/>
            <a:ext cx="914400" cy="38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0913" y="4076700"/>
            <a:ext cx="1943100" cy="952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8638" y="4229100"/>
            <a:ext cx="247650" cy="3429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8813" y="4076700"/>
            <a:ext cx="1171575" cy="952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5063" y="4229100"/>
            <a:ext cx="219075" cy="3429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5188" y="4076700"/>
            <a:ext cx="1485900" cy="9525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7163" y="4229100"/>
            <a:ext cx="361950" cy="3429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06200" y="304800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06213" y="361950"/>
            <a:ext cx="180975" cy="2667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1828800" y="1828800"/>
            <a:ext cx="853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 Monorepo in GitHub for Team Code Management and Collaboration</a:t>
            </a:r>
            <a:endParaRPr lang="en-US" sz="3600" dirty="0"/>
          </a:p>
        </p:txBody>
      </p:sp>
      <p:sp>
        <p:nvSpPr>
          <p:cNvPr id="15" name="Text 1"/>
          <p:cNvSpPr/>
          <p:nvPr/>
        </p:nvSpPr>
        <p:spPr>
          <a:xfrm>
            <a:off x="975360" y="3314700"/>
            <a:ext cx="10241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Streamlining Python Development with Unified Codebase</a:t>
            </a:r>
            <a:endParaRPr lang="en-US" sz="1800" dirty="0"/>
          </a:p>
        </p:txBody>
      </p:sp>
      <p:sp>
        <p:nvSpPr>
          <p:cNvPr id="16" name="Text 2"/>
          <p:cNvSpPr/>
          <p:nvPr/>
        </p:nvSpPr>
        <p:spPr>
          <a:xfrm>
            <a:off x="3570922" y="46482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Monorepo Structure</a:t>
            </a:r>
            <a:endParaRPr lang="en-US" sz="1200" dirty="0"/>
          </a:p>
        </p:txBody>
      </p:sp>
      <p:sp>
        <p:nvSpPr>
          <p:cNvPr id="17" name="Text 3"/>
          <p:cNvSpPr/>
          <p:nvPr/>
        </p:nvSpPr>
        <p:spPr>
          <a:xfrm>
            <a:off x="5895975" y="4648200"/>
            <a:ext cx="85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uv Library</a:t>
            </a:r>
            <a:endParaRPr lang="en-US" sz="1200" dirty="0"/>
          </a:p>
        </p:txBody>
      </p:sp>
      <p:sp>
        <p:nvSpPr>
          <p:cNvPr id="18" name="Text 4"/>
          <p:cNvSpPr/>
          <p:nvPr/>
        </p:nvSpPr>
        <p:spPr>
          <a:xfrm>
            <a:off x="7340918" y="4648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Automation</a:t>
            </a:r>
            <a:endParaRPr lang="en-US" sz="1200" dirty="0"/>
          </a:p>
        </p:txBody>
      </p:sp>
      <p:sp>
        <p:nvSpPr>
          <p:cNvPr id="19" name="Text 5"/>
          <p:cNvSpPr/>
          <p:nvPr/>
        </p:nvSpPr>
        <p:spPr>
          <a:xfrm>
            <a:off x="304800" y="6324600"/>
            <a:ext cx="1565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November 5,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934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734800" cy="69342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906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33500"/>
            <a:ext cx="11277600" cy="9906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628900"/>
            <a:ext cx="3606701" cy="1714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2819400"/>
            <a:ext cx="419100" cy="4953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2933700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2501" y="2628900"/>
            <a:ext cx="3606850" cy="1714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3001" y="2819400"/>
            <a:ext cx="466725" cy="4953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7301" y="2933700"/>
            <a:ext cx="238125" cy="2667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7950" y="2628900"/>
            <a:ext cx="3606701" cy="17145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18450" y="2819400"/>
            <a:ext cx="466725" cy="4953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32750" y="2933700"/>
            <a:ext cx="238125" cy="2667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4572000"/>
            <a:ext cx="3606701" cy="19050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" y="4762500"/>
            <a:ext cx="447675" cy="4953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4876800"/>
            <a:ext cx="219075" cy="2667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92501" y="4572000"/>
            <a:ext cx="3606850" cy="19050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83001" y="4762500"/>
            <a:ext cx="400050" cy="4953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97301" y="4876800"/>
            <a:ext cx="171450" cy="2667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27950" y="4572000"/>
            <a:ext cx="3606701" cy="19050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18450" y="4762500"/>
            <a:ext cx="419100" cy="4953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32750" y="4876800"/>
            <a:ext cx="190500" cy="2667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Monorepo? Core Concept and Benefits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685800" y="1562100"/>
            <a:ext cx="10820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Monorepos consolidate code from various services, libraries, and applications into a single, centralized location, offering significant advantages for complex projects and teams.</a:t>
            </a:r>
            <a:endParaRPr lang="en-US" sz="1350" dirty="0"/>
          </a:p>
        </p:txBody>
      </p:sp>
      <p:sp>
        <p:nvSpPr>
          <p:cNvPr id="26" name="Text 2"/>
          <p:cNvSpPr/>
          <p:nvPr/>
        </p:nvSpPr>
        <p:spPr>
          <a:xfrm>
            <a:off x="1219200" y="2819400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Code Reusability</a:t>
            </a:r>
            <a:endParaRPr lang="en-US" sz="1500" dirty="0"/>
          </a:p>
        </p:txBody>
      </p:sp>
      <p:sp>
        <p:nvSpPr>
          <p:cNvPr id="27" name="Text 3"/>
          <p:cNvSpPr/>
          <p:nvPr/>
        </p:nvSpPr>
        <p:spPr>
          <a:xfrm>
            <a:off x="647700" y="3429000"/>
            <a:ext cx="322570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Encourages sharing common code across multiple projects, reducing duplication and ensuring consistency.</a:t>
            </a:r>
            <a:endParaRPr lang="en-US" sz="1200" dirty="0"/>
          </a:p>
        </p:txBody>
      </p:sp>
      <p:sp>
        <p:nvSpPr>
          <p:cNvPr id="28" name="Text 4"/>
          <p:cNvSpPr/>
          <p:nvPr/>
        </p:nvSpPr>
        <p:spPr>
          <a:xfrm>
            <a:off x="5102126" y="2819400"/>
            <a:ext cx="20459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Easier Collaboration</a:t>
            </a:r>
            <a:endParaRPr lang="en-US" sz="1500" dirty="0"/>
          </a:p>
        </p:txBody>
      </p:sp>
      <p:sp>
        <p:nvSpPr>
          <p:cNvPr id="29" name="Text 5"/>
          <p:cNvSpPr/>
          <p:nvPr/>
        </p:nvSpPr>
        <p:spPr>
          <a:xfrm>
            <a:off x="4483001" y="3429000"/>
            <a:ext cx="32258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all code in one place, developers can seamlessly access and modify different projects without switching repositories.</a:t>
            </a:r>
            <a:endParaRPr lang="en-US" sz="1200" dirty="0"/>
          </a:p>
        </p:txBody>
      </p:sp>
      <p:sp>
        <p:nvSpPr>
          <p:cNvPr id="30" name="Text 6"/>
          <p:cNvSpPr/>
          <p:nvPr/>
        </p:nvSpPr>
        <p:spPr>
          <a:xfrm>
            <a:off x="8937575" y="2819400"/>
            <a:ext cx="26065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Streamlined Dependency Management</a:t>
            </a:r>
            <a:endParaRPr lang="en-US" sz="1500" dirty="0"/>
          </a:p>
        </p:txBody>
      </p:sp>
      <p:sp>
        <p:nvSpPr>
          <p:cNvPr id="31" name="Text 7"/>
          <p:cNvSpPr/>
          <p:nvPr/>
        </p:nvSpPr>
        <p:spPr>
          <a:xfrm>
            <a:off x="8318450" y="3467100"/>
            <a:ext cx="322570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Simplifies dependency management as all projects can share a single package manager and version control system.</a:t>
            </a:r>
            <a:endParaRPr lang="en-US" sz="1200" dirty="0"/>
          </a:p>
        </p:txBody>
      </p:sp>
      <p:sp>
        <p:nvSpPr>
          <p:cNvPr id="32" name="Text 8"/>
          <p:cNvSpPr/>
          <p:nvPr/>
        </p:nvSpPr>
        <p:spPr>
          <a:xfrm>
            <a:off x="1247775" y="4762500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Visibility</a:t>
            </a:r>
            <a:endParaRPr lang="en-US" sz="1500" dirty="0"/>
          </a:p>
        </p:txBody>
      </p:sp>
      <p:sp>
        <p:nvSpPr>
          <p:cNvPr id="33" name="Text 9"/>
          <p:cNvSpPr/>
          <p:nvPr/>
        </p:nvSpPr>
        <p:spPr>
          <a:xfrm>
            <a:off x="647700" y="5372100"/>
            <a:ext cx="322570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Provides a holistic view of the entire codebase, making it easier to understand relationships between components.</a:t>
            </a:r>
            <a:endParaRPr lang="en-US" sz="1200" dirty="0"/>
          </a:p>
        </p:txBody>
      </p:sp>
      <p:sp>
        <p:nvSpPr>
          <p:cNvPr id="34" name="Text 10"/>
          <p:cNvSpPr/>
          <p:nvPr/>
        </p:nvSpPr>
        <p:spPr>
          <a:xfrm>
            <a:off x="5035451" y="4762500"/>
            <a:ext cx="16687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Atomic Changes</a:t>
            </a:r>
            <a:endParaRPr lang="en-US" sz="1500" dirty="0"/>
          </a:p>
        </p:txBody>
      </p:sp>
      <p:sp>
        <p:nvSpPr>
          <p:cNvPr id="35" name="Text 11"/>
          <p:cNvSpPr/>
          <p:nvPr/>
        </p:nvSpPr>
        <p:spPr>
          <a:xfrm>
            <a:off x="4483001" y="5372100"/>
            <a:ext cx="32258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Enables coordinated updates across multiple projects with a single commit, ensuring consistency across interdependent components.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8889950" y="4762500"/>
            <a:ext cx="1874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Consistent Tooling</a:t>
            </a:r>
            <a:endParaRPr lang="en-US" sz="1500" dirty="0"/>
          </a:p>
        </p:txBody>
      </p:sp>
      <p:sp>
        <p:nvSpPr>
          <p:cNvPr id="37" name="Text 13"/>
          <p:cNvSpPr/>
          <p:nvPr/>
        </p:nvSpPr>
        <p:spPr>
          <a:xfrm>
            <a:off x="8318450" y="5372100"/>
            <a:ext cx="322570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Standardizes development practices, build systems, and linting setups across all projects within the repository.</a:t>
            </a:r>
            <a:endParaRPr lang="en-US" sz="1200" dirty="0"/>
          </a:p>
        </p:txBody>
      </p:sp>
      <p:sp>
        <p:nvSpPr>
          <p:cNvPr id="38" name="Text 14"/>
          <p:cNvSpPr/>
          <p:nvPr/>
        </p:nvSpPr>
        <p:spPr>
          <a:xfrm>
            <a:off x="11763375" y="6581775"/>
            <a:ext cx="3314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2/14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5057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734800" cy="7505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906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33500"/>
            <a:ext cx="11277600" cy="914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552700"/>
            <a:ext cx="5524500" cy="1714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781300"/>
            <a:ext cx="571500" cy="571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538" y="2914650"/>
            <a:ext cx="200025" cy="3048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2552700"/>
            <a:ext cx="5524500" cy="1714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2781300"/>
            <a:ext cx="571500" cy="5715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0350" y="291465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495800"/>
            <a:ext cx="5524500" cy="14859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4724400"/>
            <a:ext cx="571500" cy="5715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7250" y="485775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4495800"/>
            <a:ext cx="5524500" cy="14859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4724400"/>
            <a:ext cx="571500" cy="5715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96063" y="4857750"/>
            <a:ext cx="257175" cy="3048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6210300"/>
            <a:ext cx="11277600" cy="8382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" y="6477000"/>
            <a:ext cx="171450" cy="3048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Monorepo Advantages for Data Teams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647700" y="1524000"/>
            <a:ext cx="10896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teams can leverage monorepos to streamline complex workflows, enhance collaboration across projects, and maintain consistency in rapidly evolving codebases.</a:t>
            </a:r>
            <a:endParaRPr lang="en-US" sz="1350" dirty="0"/>
          </a:p>
        </p:txBody>
      </p:sp>
      <p:sp>
        <p:nvSpPr>
          <p:cNvPr id="22" name="Text 2"/>
          <p:cNvSpPr/>
          <p:nvPr/>
        </p:nvSpPr>
        <p:spPr>
          <a:xfrm>
            <a:off x="1447800" y="2781300"/>
            <a:ext cx="430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Atomic Changes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1447800" y="3124200"/>
            <a:ext cx="4305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 coordinated updates across multiple data projects with a single commit, ensuring consistency across interdependent components. Perfect for schema changes that affect multiple services.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7200900" y="2781300"/>
            <a:ext cx="430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Consistent Tooling</a:t>
            </a:r>
            <a:endParaRPr lang="en-US" sz="1500" dirty="0"/>
          </a:p>
        </p:txBody>
      </p:sp>
      <p:sp>
        <p:nvSpPr>
          <p:cNvPr id="25" name="Text 5"/>
          <p:cNvSpPr/>
          <p:nvPr/>
        </p:nvSpPr>
        <p:spPr>
          <a:xfrm>
            <a:off x="7200900" y="3124200"/>
            <a:ext cx="4305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Standardize development practices, build systems, and linting setups across all data projects, reducing context switching and improving onboarding efficiency.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1447800" y="4724400"/>
            <a:ext cx="5166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Unified Version History</a:t>
            </a:r>
            <a:endParaRPr lang="en-US" sz="1500" dirty="0"/>
          </a:p>
        </p:txBody>
      </p:sp>
      <p:sp>
        <p:nvSpPr>
          <p:cNvPr id="27" name="Text 7"/>
          <p:cNvSpPr/>
          <p:nvPr/>
        </p:nvSpPr>
        <p:spPr>
          <a:xfrm>
            <a:off x="1447800" y="5067300"/>
            <a:ext cx="4305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Maintain a single source of truth for all related data projects and their evolution over time, simplifying auditing and rollbacks across your data ecosystem.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7200900" y="4724400"/>
            <a:ext cx="5166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Visibility</a:t>
            </a:r>
            <a:endParaRPr lang="en-US" sz="1500" dirty="0"/>
          </a:p>
        </p:txBody>
      </p:sp>
      <p:sp>
        <p:nvSpPr>
          <p:cNvPr id="29" name="Text 9"/>
          <p:cNvSpPr/>
          <p:nvPr/>
        </p:nvSpPr>
        <p:spPr>
          <a:xfrm>
            <a:off x="7200900" y="5067300"/>
            <a:ext cx="4305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Gain holistic insights into data workflows, making it easier to understand relationships between components and trace issues across services in your data pipeline.</a:t>
            </a:r>
            <a:endParaRPr lang="en-US" sz="1200" dirty="0"/>
          </a:p>
        </p:txBody>
      </p:sp>
      <p:sp>
        <p:nvSpPr>
          <p:cNvPr id="30" name="Text 10"/>
          <p:cNvSpPr/>
          <p:nvPr/>
        </p:nvSpPr>
        <p:spPr>
          <a:xfrm>
            <a:off x="971550" y="6400800"/>
            <a:ext cx="10572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team specific benefit: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Easier sharing of common data models, UDFs, and ETL components across multiple projects, reducing duplication and ensuring consistency.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11763375" y="7153275"/>
            <a:ext cx="3314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3/14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7348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906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57300"/>
            <a:ext cx="11277600" cy="4953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981200"/>
            <a:ext cx="5562600" cy="1295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133600"/>
            <a:ext cx="371475" cy="4953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2247900"/>
            <a:ext cx="142875" cy="2667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743200"/>
            <a:ext cx="285750" cy="3810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847975"/>
            <a:ext cx="133350" cy="1905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1981200"/>
            <a:ext cx="5562600" cy="1295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600" y="2133600"/>
            <a:ext cx="466725" cy="4953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2247900"/>
            <a:ext cx="238125" cy="2667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0" y="2743200"/>
            <a:ext cx="304800" cy="3810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2847975"/>
            <a:ext cx="152400" cy="1905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3429000"/>
            <a:ext cx="5562600" cy="1295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3581400"/>
            <a:ext cx="400050" cy="4953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3900" y="3695700"/>
            <a:ext cx="171450" cy="2667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4191000"/>
            <a:ext cx="323850" cy="3810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" y="4295775"/>
            <a:ext cx="171450" cy="1905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72200" y="3429000"/>
            <a:ext cx="5562600" cy="12954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600" y="3581400"/>
            <a:ext cx="466725" cy="4953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38900" y="3695700"/>
            <a:ext cx="238125" cy="2667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24600" y="4191000"/>
            <a:ext cx="304800" cy="3810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00800" y="4295775"/>
            <a:ext cx="152400" cy="1905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7200" y="4876800"/>
            <a:ext cx="5562600" cy="14859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9600" y="5029200"/>
            <a:ext cx="419100" cy="4953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23900" y="5143500"/>
            <a:ext cx="190500" cy="2667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09600" y="5829300"/>
            <a:ext cx="285750" cy="3810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85800" y="5934075"/>
            <a:ext cx="133350" cy="1905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Potential Challenges and Mitigation Strategies</a:t>
            </a:r>
            <a:endParaRPr lang="en-US" sz="2700" dirty="0"/>
          </a:p>
        </p:txBody>
      </p:sp>
      <p:sp>
        <p:nvSpPr>
          <p:cNvPr id="32" name="Text 1"/>
          <p:cNvSpPr/>
          <p:nvPr/>
        </p:nvSpPr>
        <p:spPr>
          <a:xfrm>
            <a:off x="571500" y="1257300"/>
            <a:ext cx="135331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Monorepos present certain challenges that require strategic approaches to ensure successful implementation.</a:t>
            </a:r>
            <a:endParaRPr lang="en-US" sz="1350" dirty="0"/>
          </a:p>
        </p:txBody>
      </p:sp>
      <p:sp>
        <p:nvSpPr>
          <p:cNvPr id="33" name="Text 2"/>
          <p:cNvSpPr/>
          <p:nvPr/>
        </p:nvSpPr>
        <p:spPr>
          <a:xfrm>
            <a:off x="1095375" y="2133600"/>
            <a:ext cx="52349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Times &amp; CI/CD Complexity</a:t>
            </a:r>
            <a:endParaRPr lang="en-US" sz="1350" dirty="0"/>
          </a:p>
        </p:txBody>
      </p:sp>
      <p:sp>
        <p:nvSpPr>
          <p:cNvPr id="34" name="Text 3"/>
          <p:cNvSpPr/>
          <p:nvPr/>
        </p:nvSpPr>
        <p:spPr>
          <a:xfrm>
            <a:off x="1095375" y="2438400"/>
            <a:ext cx="52349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and test times can become significant as the repository grows.</a:t>
            </a:r>
            <a:endParaRPr lang="en-US" sz="1050" dirty="0"/>
          </a:p>
        </p:txBody>
      </p:sp>
      <p:sp>
        <p:nvSpPr>
          <p:cNvPr id="35" name="Text 4"/>
          <p:cNvSpPr/>
          <p:nvPr/>
        </p:nvSpPr>
        <p:spPr>
          <a:xfrm>
            <a:off x="1009650" y="2743200"/>
            <a:ext cx="4857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selective CI/CD pipelines that only build/test changed components.</a:t>
            </a:r>
            <a:endParaRPr lang="en-US" sz="1050" dirty="0"/>
          </a:p>
        </p:txBody>
      </p:sp>
      <p:sp>
        <p:nvSpPr>
          <p:cNvPr id="36" name="Text 5"/>
          <p:cNvSpPr/>
          <p:nvPr/>
        </p:nvSpPr>
        <p:spPr>
          <a:xfrm>
            <a:off x="6905625" y="2133600"/>
            <a:ext cx="466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Code Ownership</a:t>
            </a:r>
            <a:endParaRPr lang="en-US" sz="1350" dirty="0"/>
          </a:p>
        </p:txBody>
      </p:sp>
      <p:sp>
        <p:nvSpPr>
          <p:cNvPr id="37" name="Text 6"/>
          <p:cNvSpPr/>
          <p:nvPr/>
        </p:nvSpPr>
        <p:spPr>
          <a:xfrm>
            <a:off x="6905625" y="2438400"/>
            <a:ext cx="560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Establishing clear boundaries between different projects can be difficult.</a:t>
            </a:r>
            <a:endParaRPr lang="en-US" sz="1050" dirty="0"/>
          </a:p>
        </p:txBody>
      </p:sp>
      <p:sp>
        <p:nvSpPr>
          <p:cNvPr id="38" name="Text 7"/>
          <p:cNvSpPr/>
          <p:nvPr/>
        </p:nvSpPr>
        <p:spPr>
          <a:xfrm>
            <a:off x="6743700" y="2743200"/>
            <a:ext cx="4838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Utilize CODEOWNERS files and define clear project structures with dedicated teams.</a:t>
            </a:r>
            <a:endParaRPr lang="en-US" sz="1050" dirty="0"/>
          </a:p>
        </p:txBody>
      </p:sp>
      <p:sp>
        <p:nvSpPr>
          <p:cNvPr id="39" name="Text 8"/>
          <p:cNvSpPr/>
          <p:nvPr/>
        </p:nvSpPr>
        <p:spPr>
          <a:xfrm>
            <a:off x="1123950" y="3581400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Scalability Issues</a:t>
            </a:r>
            <a:endParaRPr lang="en-US" sz="1350" dirty="0"/>
          </a:p>
        </p:txBody>
      </p:sp>
      <p:sp>
        <p:nvSpPr>
          <p:cNvPr id="40" name="Text 9"/>
          <p:cNvSpPr/>
          <p:nvPr/>
        </p:nvSpPr>
        <p:spPr>
          <a:xfrm>
            <a:off x="1123950" y="3886200"/>
            <a:ext cx="548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Size and complexity can become unwieldy without proper organization.</a:t>
            </a:r>
            <a:endParaRPr lang="en-US" sz="1050" dirty="0"/>
          </a:p>
        </p:txBody>
      </p:sp>
      <p:sp>
        <p:nvSpPr>
          <p:cNvPr id="41" name="Text 10"/>
          <p:cNvSpPr/>
          <p:nvPr/>
        </p:nvSpPr>
        <p:spPr>
          <a:xfrm>
            <a:off x="1047750" y="4191000"/>
            <a:ext cx="4819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Adopt robust build systems like Pants and efficient dependency management with uv workspaces.</a:t>
            </a:r>
            <a:endParaRPr lang="en-US" sz="1050" dirty="0"/>
          </a:p>
        </p:txBody>
      </p:sp>
      <p:sp>
        <p:nvSpPr>
          <p:cNvPr id="42" name="Text 11"/>
          <p:cNvSpPr/>
          <p:nvPr/>
        </p:nvSpPr>
        <p:spPr>
          <a:xfrm>
            <a:off x="6905625" y="3581400"/>
            <a:ext cx="3857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Tight Coupling</a:t>
            </a:r>
            <a:endParaRPr lang="en-US" sz="1350" dirty="0"/>
          </a:p>
        </p:txBody>
      </p:sp>
      <p:sp>
        <p:nvSpPr>
          <p:cNvPr id="43" name="Text 12"/>
          <p:cNvSpPr/>
          <p:nvPr/>
        </p:nvSpPr>
        <p:spPr>
          <a:xfrm>
            <a:off x="6905625" y="3886200"/>
            <a:ext cx="462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 of creating overly tight dependencies between projects.</a:t>
            </a:r>
            <a:endParaRPr lang="en-US" sz="1050" dirty="0"/>
          </a:p>
        </p:txBody>
      </p:sp>
      <p:sp>
        <p:nvSpPr>
          <p:cNvPr id="44" name="Text 13"/>
          <p:cNvSpPr/>
          <p:nvPr/>
        </p:nvSpPr>
        <p:spPr>
          <a:xfrm>
            <a:off x="6743700" y="4191000"/>
            <a:ext cx="4838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Enforce clear API boundaries and modular design between internal packages.</a:t>
            </a:r>
            <a:endParaRPr lang="en-US" sz="1050" dirty="0"/>
          </a:p>
        </p:txBody>
      </p:sp>
      <p:sp>
        <p:nvSpPr>
          <p:cNvPr id="45" name="Text 14"/>
          <p:cNvSpPr/>
          <p:nvPr/>
        </p:nvSpPr>
        <p:spPr>
          <a:xfrm>
            <a:off x="1143000" y="5029200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Broken Main Branch</a:t>
            </a:r>
            <a:endParaRPr lang="en-US" sz="1350" dirty="0"/>
          </a:p>
        </p:txBody>
      </p:sp>
      <p:sp>
        <p:nvSpPr>
          <p:cNvPr id="46" name="Text 15"/>
          <p:cNvSpPr/>
          <p:nvPr/>
        </p:nvSpPr>
        <p:spPr>
          <a:xfrm>
            <a:off x="1143000" y="5334000"/>
            <a:ext cx="472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Changes affecting multiple projects increase the chance of breaking the main branch.</a:t>
            </a:r>
            <a:endParaRPr lang="en-US" sz="1050" dirty="0"/>
          </a:p>
        </p:txBody>
      </p:sp>
      <p:sp>
        <p:nvSpPr>
          <p:cNvPr id="47" name="Text 16"/>
          <p:cNvSpPr/>
          <p:nvPr/>
        </p:nvSpPr>
        <p:spPr>
          <a:xfrm>
            <a:off x="1009650" y="5829300"/>
            <a:ext cx="548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rigorous testing and code review processes before merging.</a:t>
            </a:r>
            <a:endParaRPr lang="en-US" sz="1050" dirty="0"/>
          </a:p>
        </p:txBody>
      </p:sp>
      <p:sp>
        <p:nvSpPr>
          <p:cNvPr id="48" name="Text 17"/>
          <p:cNvSpPr/>
          <p:nvPr/>
        </p:nvSpPr>
        <p:spPr>
          <a:xfrm>
            <a:off x="11763375" y="6505575"/>
            <a:ext cx="3314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4/14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048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734800" cy="7048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906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57300"/>
            <a:ext cx="6483251" cy="5334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952625"/>
            <a:ext cx="190500" cy="1714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286000"/>
            <a:ext cx="171450" cy="1714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2590800"/>
            <a:ext cx="171450" cy="1714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2895600"/>
            <a:ext cx="171450" cy="1714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3200400"/>
            <a:ext cx="171450" cy="1714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3000" y="3505200"/>
            <a:ext cx="171450" cy="1714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3000" y="3810000"/>
            <a:ext cx="171450" cy="1714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4114800"/>
            <a:ext cx="171450" cy="1714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3000" y="4419600"/>
            <a:ext cx="171450" cy="1714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3000" y="4724400"/>
            <a:ext cx="171450" cy="1714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400" y="5029200"/>
            <a:ext cx="133350" cy="1714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4400" y="5600700"/>
            <a:ext cx="133350" cy="1714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4400" y="5905500"/>
            <a:ext cx="133350" cy="1714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69051" y="1257300"/>
            <a:ext cx="4565600" cy="12192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21451" y="1409700"/>
            <a:ext cx="304800" cy="3810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97651" y="15240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69051" y="2628900"/>
            <a:ext cx="4565600" cy="12192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21451" y="2781300"/>
            <a:ext cx="323850" cy="3810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97651" y="2895600"/>
            <a:ext cx="171450" cy="1524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69051" y="4000500"/>
            <a:ext cx="4565600" cy="12192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321451" y="4152900"/>
            <a:ext cx="304800" cy="3810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97651" y="426720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169051" y="5372100"/>
            <a:ext cx="4565600" cy="12192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321451" y="5524500"/>
            <a:ext cx="342900" cy="3810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97651" y="5638800"/>
            <a:ext cx="190500" cy="1524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Proposed Python Monorepo Structure</a:t>
            </a:r>
            <a:endParaRPr lang="en-US" sz="2700" dirty="0"/>
          </a:p>
        </p:txBody>
      </p:sp>
      <p:sp>
        <p:nvSpPr>
          <p:cNvPr id="32" name="Text 1"/>
          <p:cNvSpPr/>
          <p:nvPr/>
        </p:nvSpPr>
        <p:spPr>
          <a:xfrm>
            <a:off x="685800" y="1485900"/>
            <a:ext cx="60260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Directory Layout</a:t>
            </a:r>
            <a:endParaRPr lang="en-US" sz="1500" dirty="0"/>
          </a:p>
        </p:txBody>
      </p:sp>
      <p:sp>
        <p:nvSpPr>
          <p:cNvPr id="33" name="Text 2"/>
          <p:cNvSpPr/>
          <p:nvPr/>
        </p:nvSpPr>
        <p:spPr>
          <a:xfrm>
            <a:off x="952500" y="1905000"/>
            <a:ext cx="17286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monorepo-root/</a:t>
            </a:r>
            <a:endParaRPr lang="en-US" sz="1350" dirty="0"/>
          </a:p>
        </p:txBody>
      </p:sp>
      <p:sp>
        <p:nvSpPr>
          <p:cNvPr id="34" name="Text 3"/>
          <p:cNvSpPr/>
          <p:nvPr/>
        </p:nvSpPr>
        <p:spPr>
          <a:xfrm>
            <a:off x="1162050" y="2247900"/>
            <a:ext cx="11112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packages/</a:t>
            </a:r>
            <a:endParaRPr lang="en-US" sz="1350" dirty="0"/>
          </a:p>
        </p:txBody>
      </p:sp>
      <p:sp>
        <p:nvSpPr>
          <p:cNvPr id="35" name="Text 4"/>
          <p:cNvSpPr/>
          <p:nvPr/>
        </p:nvSpPr>
        <p:spPr>
          <a:xfrm>
            <a:off x="2164259" y="2247900"/>
            <a:ext cx="5185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Shared libraries and reusable components</a:t>
            </a:r>
            <a:endParaRPr lang="en-US" sz="1350" dirty="0"/>
          </a:p>
        </p:txBody>
      </p:sp>
      <p:sp>
        <p:nvSpPr>
          <p:cNvPr id="36" name="Text 5"/>
          <p:cNvSpPr/>
          <p:nvPr/>
        </p:nvSpPr>
        <p:spPr>
          <a:xfrm>
            <a:off x="1390650" y="2552700"/>
            <a:ext cx="16052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common-utils/</a:t>
            </a:r>
            <a:endParaRPr lang="en-US" sz="1350" dirty="0"/>
          </a:p>
        </p:txBody>
      </p:sp>
      <p:sp>
        <p:nvSpPr>
          <p:cNvPr id="37" name="Text 6"/>
          <p:cNvSpPr/>
          <p:nvPr/>
        </p:nvSpPr>
        <p:spPr>
          <a:xfrm>
            <a:off x="2804517" y="2552700"/>
            <a:ext cx="33336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General utility functions</a:t>
            </a:r>
            <a:endParaRPr lang="en-US" sz="1350" dirty="0"/>
          </a:p>
        </p:txBody>
      </p:sp>
      <p:sp>
        <p:nvSpPr>
          <p:cNvPr id="38" name="Text 7"/>
          <p:cNvSpPr/>
          <p:nvPr/>
        </p:nvSpPr>
        <p:spPr>
          <a:xfrm>
            <a:off x="1390650" y="2857500"/>
            <a:ext cx="1481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data-models/</a:t>
            </a:r>
            <a:endParaRPr lang="en-US" sz="1350" dirty="0"/>
          </a:p>
        </p:txBody>
      </p:sp>
      <p:sp>
        <p:nvSpPr>
          <p:cNvPr id="39" name="Text 8"/>
          <p:cNvSpPr/>
          <p:nvPr/>
        </p:nvSpPr>
        <p:spPr>
          <a:xfrm>
            <a:off x="2701528" y="2857500"/>
            <a:ext cx="44448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Shared data structures and schemas</a:t>
            </a:r>
            <a:endParaRPr lang="en-US" sz="1350" dirty="0"/>
          </a:p>
        </p:txBody>
      </p:sp>
      <p:sp>
        <p:nvSpPr>
          <p:cNvPr id="40" name="Text 9"/>
          <p:cNvSpPr/>
          <p:nvPr/>
        </p:nvSpPr>
        <p:spPr>
          <a:xfrm>
            <a:off x="1162050" y="3162300"/>
            <a:ext cx="16052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applications/</a:t>
            </a:r>
            <a:endParaRPr lang="en-US" sz="1350" dirty="0"/>
          </a:p>
        </p:txBody>
      </p:sp>
      <p:sp>
        <p:nvSpPr>
          <p:cNvPr id="41" name="Text 10"/>
          <p:cNvSpPr/>
          <p:nvPr/>
        </p:nvSpPr>
        <p:spPr>
          <a:xfrm>
            <a:off x="2575917" y="3162300"/>
            <a:ext cx="456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Standalone applications or services</a:t>
            </a:r>
            <a:endParaRPr lang="en-US" sz="1350" dirty="0"/>
          </a:p>
        </p:txBody>
      </p:sp>
      <p:sp>
        <p:nvSpPr>
          <p:cNvPr id="42" name="Text 11"/>
          <p:cNvSpPr/>
          <p:nvPr/>
        </p:nvSpPr>
        <p:spPr>
          <a:xfrm>
            <a:off x="1390650" y="3467100"/>
            <a:ext cx="1481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api-service/</a:t>
            </a:r>
            <a:endParaRPr lang="en-US" sz="1350" dirty="0"/>
          </a:p>
        </p:txBody>
      </p:sp>
      <p:sp>
        <p:nvSpPr>
          <p:cNvPr id="43" name="Text 12"/>
          <p:cNvSpPr/>
          <p:nvPr/>
        </p:nvSpPr>
        <p:spPr>
          <a:xfrm>
            <a:off x="2701528" y="3467100"/>
            <a:ext cx="30866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RESTful API application</a:t>
            </a:r>
            <a:endParaRPr lang="en-US" sz="1350" dirty="0"/>
          </a:p>
        </p:txBody>
      </p:sp>
      <p:sp>
        <p:nvSpPr>
          <p:cNvPr id="44" name="Text 13"/>
          <p:cNvSpPr/>
          <p:nvPr/>
        </p:nvSpPr>
        <p:spPr>
          <a:xfrm>
            <a:off x="1390650" y="3771900"/>
            <a:ext cx="18520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worker-service/</a:t>
            </a:r>
            <a:endParaRPr lang="en-US" sz="1350" dirty="0"/>
          </a:p>
        </p:txBody>
      </p:sp>
      <p:sp>
        <p:nvSpPr>
          <p:cNvPr id="45" name="Text 14"/>
          <p:cNvSpPr/>
          <p:nvPr/>
        </p:nvSpPr>
        <p:spPr>
          <a:xfrm>
            <a:off x="3010198" y="3771900"/>
            <a:ext cx="38274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Background processing service</a:t>
            </a:r>
            <a:endParaRPr lang="en-US" sz="1350" dirty="0"/>
          </a:p>
        </p:txBody>
      </p:sp>
      <p:sp>
        <p:nvSpPr>
          <p:cNvPr id="46" name="Text 15"/>
          <p:cNvSpPr/>
          <p:nvPr/>
        </p:nvSpPr>
        <p:spPr>
          <a:xfrm>
            <a:off x="1162050" y="4076700"/>
            <a:ext cx="11112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</a:t>
            </a:r>
            <a:endParaRPr lang="en-US" sz="1350" dirty="0"/>
          </a:p>
        </p:txBody>
      </p:sp>
      <p:sp>
        <p:nvSpPr>
          <p:cNvPr id="47" name="Text 16"/>
          <p:cNvSpPr/>
          <p:nvPr/>
        </p:nvSpPr>
        <p:spPr>
          <a:xfrm>
            <a:off x="2164259" y="4076700"/>
            <a:ext cx="38274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Microservices (if applicable)</a:t>
            </a:r>
            <a:endParaRPr lang="en-US" sz="1350" dirty="0"/>
          </a:p>
        </p:txBody>
      </p:sp>
      <p:sp>
        <p:nvSpPr>
          <p:cNvPr id="48" name="Text 17"/>
          <p:cNvSpPr/>
          <p:nvPr/>
        </p:nvSpPr>
        <p:spPr>
          <a:xfrm>
            <a:off x="1390650" y="4381500"/>
            <a:ext cx="25928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notification-service/</a:t>
            </a:r>
            <a:endParaRPr lang="en-US" sz="1350" dirty="0"/>
          </a:p>
        </p:txBody>
      </p:sp>
      <p:sp>
        <p:nvSpPr>
          <p:cNvPr id="49" name="Text 18"/>
          <p:cNvSpPr/>
          <p:nvPr/>
        </p:nvSpPr>
        <p:spPr>
          <a:xfrm>
            <a:off x="1390650" y="4686300"/>
            <a:ext cx="22224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analytics-service/</a:t>
            </a:r>
            <a:endParaRPr lang="en-US" sz="1350" dirty="0"/>
          </a:p>
        </p:txBody>
      </p:sp>
      <p:sp>
        <p:nvSpPr>
          <p:cNvPr id="50" name="Text 19"/>
          <p:cNvSpPr/>
          <p:nvPr/>
        </p:nvSpPr>
        <p:spPr>
          <a:xfrm>
            <a:off x="1123950" y="4991100"/>
            <a:ext cx="17286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pyproject.toml</a:t>
            </a:r>
            <a:endParaRPr lang="en-US" sz="1350" dirty="0"/>
          </a:p>
        </p:txBody>
      </p:sp>
      <p:sp>
        <p:nvSpPr>
          <p:cNvPr id="51" name="Text 20"/>
          <p:cNvSpPr/>
          <p:nvPr/>
        </p:nvSpPr>
        <p:spPr>
          <a:xfrm>
            <a:off x="2640657" y="4991100"/>
            <a:ext cx="40711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Root configuration for uv and other tools</a:t>
            </a:r>
            <a:endParaRPr lang="en-US" sz="1350" dirty="0"/>
          </a:p>
        </p:txBody>
      </p:sp>
      <p:sp>
        <p:nvSpPr>
          <p:cNvPr id="52" name="Text 21"/>
          <p:cNvSpPr/>
          <p:nvPr/>
        </p:nvSpPr>
        <p:spPr>
          <a:xfrm>
            <a:off x="1123950" y="5562600"/>
            <a:ext cx="8643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uv.lock</a:t>
            </a:r>
            <a:endParaRPr lang="en-US" sz="1350" dirty="0"/>
          </a:p>
        </p:txBody>
      </p:sp>
      <p:sp>
        <p:nvSpPr>
          <p:cNvPr id="53" name="Text 22"/>
          <p:cNvSpPr/>
          <p:nvPr/>
        </p:nvSpPr>
        <p:spPr>
          <a:xfrm>
            <a:off x="1920478" y="5562600"/>
            <a:ext cx="35806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Unified dependency lockfile</a:t>
            </a:r>
            <a:endParaRPr lang="en-US" sz="1350" dirty="0"/>
          </a:p>
        </p:txBody>
      </p:sp>
      <p:sp>
        <p:nvSpPr>
          <p:cNvPr id="54" name="Text 23"/>
          <p:cNvSpPr/>
          <p:nvPr/>
        </p:nvSpPr>
        <p:spPr>
          <a:xfrm>
            <a:off x="1123950" y="5867400"/>
            <a:ext cx="11112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350" dirty="0"/>
          </a:p>
        </p:txBody>
      </p:sp>
      <p:sp>
        <p:nvSpPr>
          <p:cNvPr id="55" name="Text 24"/>
          <p:cNvSpPr/>
          <p:nvPr/>
        </p:nvSpPr>
        <p:spPr>
          <a:xfrm>
            <a:off x="2126159" y="5867400"/>
            <a:ext cx="5185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Monorepo overview and setup instructions</a:t>
            </a:r>
            <a:endParaRPr lang="en-US" sz="1350" dirty="0"/>
          </a:p>
        </p:txBody>
      </p:sp>
      <p:sp>
        <p:nvSpPr>
          <p:cNvPr id="56" name="Text 25"/>
          <p:cNvSpPr/>
          <p:nvPr/>
        </p:nvSpPr>
        <p:spPr>
          <a:xfrm>
            <a:off x="7740551" y="1466850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packages/</a:t>
            </a:r>
            <a:endParaRPr lang="en-US" sz="1350" dirty="0"/>
          </a:p>
        </p:txBody>
      </p:sp>
      <p:sp>
        <p:nvSpPr>
          <p:cNvPr id="57" name="Text 26"/>
          <p:cNvSpPr/>
          <p:nvPr/>
        </p:nvSpPr>
        <p:spPr>
          <a:xfrm>
            <a:off x="7321451" y="1866900"/>
            <a:ext cx="426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Shared Python libraries and reusable components that can be consumed by multiple applications or services.</a:t>
            </a:r>
            <a:endParaRPr lang="en-US" sz="1200" dirty="0"/>
          </a:p>
        </p:txBody>
      </p:sp>
      <p:sp>
        <p:nvSpPr>
          <p:cNvPr id="58" name="Text 27"/>
          <p:cNvSpPr/>
          <p:nvPr/>
        </p:nvSpPr>
        <p:spPr>
          <a:xfrm>
            <a:off x="7759601" y="2838450"/>
            <a:ext cx="1211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applications/</a:t>
            </a:r>
            <a:endParaRPr lang="en-US" sz="1350" dirty="0"/>
          </a:p>
        </p:txBody>
      </p:sp>
      <p:sp>
        <p:nvSpPr>
          <p:cNvPr id="59" name="Text 28"/>
          <p:cNvSpPr/>
          <p:nvPr/>
        </p:nvSpPr>
        <p:spPr>
          <a:xfrm>
            <a:off x="7321451" y="3238500"/>
            <a:ext cx="426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Primary applications or services, each representing a distinct deployable unit.</a:t>
            </a:r>
            <a:endParaRPr lang="en-US" sz="1200" dirty="0"/>
          </a:p>
        </p:txBody>
      </p:sp>
      <p:sp>
        <p:nvSpPr>
          <p:cNvPr id="60" name="Text 29"/>
          <p:cNvSpPr/>
          <p:nvPr/>
        </p:nvSpPr>
        <p:spPr>
          <a:xfrm>
            <a:off x="7740551" y="42100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services/</a:t>
            </a:r>
            <a:endParaRPr lang="en-US" sz="1350" dirty="0"/>
          </a:p>
        </p:txBody>
      </p:sp>
      <p:sp>
        <p:nvSpPr>
          <p:cNvPr id="61" name="Text 30"/>
          <p:cNvSpPr/>
          <p:nvPr/>
        </p:nvSpPr>
        <p:spPr>
          <a:xfrm>
            <a:off x="7321451" y="4610100"/>
            <a:ext cx="426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Optional directory for microservice architectures, hosting individual microservices.</a:t>
            </a:r>
            <a:endParaRPr lang="en-US" sz="1200" dirty="0"/>
          </a:p>
        </p:txBody>
      </p:sp>
      <p:sp>
        <p:nvSpPr>
          <p:cNvPr id="62" name="Text 31"/>
          <p:cNvSpPr/>
          <p:nvPr/>
        </p:nvSpPr>
        <p:spPr>
          <a:xfrm>
            <a:off x="7778651" y="5581650"/>
            <a:ext cx="222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pyproject.toml &amp; uv.lock</a:t>
            </a:r>
            <a:endParaRPr lang="en-US" sz="1350" dirty="0"/>
          </a:p>
        </p:txBody>
      </p:sp>
      <p:sp>
        <p:nvSpPr>
          <p:cNvPr id="63" name="Text 32"/>
          <p:cNvSpPr/>
          <p:nvPr/>
        </p:nvSpPr>
        <p:spPr>
          <a:xfrm>
            <a:off x="7321451" y="5981700"/>
            <a:ext cx="426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Central configuration and unified lockfile for managing dependencies across the entire monorepo.</a:t>
            </a:r>
            <a:endParaRPr lang="en-US" sz="1200" dirty="0"/>
          </a:p>
        </p:txBody>
      </p:sp>
      <p:sp>
        <p:nvSpPr>
          <p:cNvPr id="64" name="Text 33"/>
          <p:cNvSpPr/>
          <p:nvPr/>
        </p:nvSpPr>
        <p:spPr>
          <a:xfrm>
            <a:off x="11763375" y="6696075"/>
            <a:ext cx="3314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5/14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7348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906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33500"/>
            <a:ext cx="4565600" cy="44958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114550"/>
            <a:ext cx="219075" cy="3429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705100"/>
            <a:ext cx="247650" cy="3429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295650"/>
            <a:ext cx="285750" cy="3429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962400"/>
            <a:ext cx="4108400" cy="12192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1400" y="1790700"/>
            <a:ext cx="3146375" cy="19050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1900" y="1981200"/>
            <a:ext cx="447675" cy="4953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56200" y="2095500"/>
            <a:ext cx="219075" cy="2667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88276" y="1790700"/>
            <a:ext cx="3146375" cy="19050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78776" y="1981200"/>
            <a:ext cx="447675" cy="4953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93076" y="2095500"/>
            <a:ext cx="219075" cy="2667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51400" y="3886200"/>
            <a:ext cx="3146375" cy="19431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41900" y="4076700"/>
            <a:ext cx="400050" cy="4953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56200" y="4191000"/>
            <a:ext cx="171450" cy="2667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88276" y="3886200"/>
            <a:ext cx="3146375" cy="19431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78776" y="4076700"/>
            <a:ext cx="419100" cy="4953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93076" y="4191000"/>
            <a:ext cx="190500" cy="2667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Introducing UV Library for Python Management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685800" y="1562100"/>
            <a:ext cx="410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is UV?</a:t>
            </a:r>
            <a:endParaRPr lang="en-US" sz="1800" dirty="0"/>
          </a:p>
        </p:txBody>
      </p:sp>
      <p:sp>
        <p:nvSpPr>
          <p:cNvPr id="24" name="Text 2"/>
          <p:cNvSpPr/>
          <p:nvPr/>
        </p:nvSpPr>
        <p:spPr>
          <a:xfrm>
            <a:off x="1057275" y="2019300"/>
            <a:ext cx="37369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extremely fast Python package and project manager, written in Rust</a:t>
            </a:r>
            <a:endParaRPr lang="en-US" sz="1350" dirty="0"/>
          </a:p>
        </p:txBody>
      </p:sp>
      <p:sp>
        <p:nvSpPr>
          <p:cNvPr id="25" name="Text 3"/>
          <p:cNvSpPr/>
          <p:nvPr/>
        </p:nvSpPr>
        <p:spPr>
          <a:xfrm>
            <a:off x="1085850" y="2743200"/>
            <a:ext cx="32232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Central to our monorepo strategy</a:t>
            </a:r>
            <a:endParaRPr lang="en-US" sz="1350" dirty="0"/>
          </a:p>
        </p:txBody>
      </p:sp>
      <p:sp>
        <p:nvSpPr>
          <p:cNvPr id="26" name="Text 4"/>
          <p:cNvSpPr/>
          <p:nvPr/>
        </p:nvSpPr>
        <p:spPr>
          <a:xfrm>
            <a:off x="1123950" y="3200400"/>
            <a:ext cx="3670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Significant performance improvements over traditional tools</a:t>
            </a:r>
            <a:endParaRPr lang="en-US" sz="1350" dirty="0"/>
          </a:p>
        </p:txBody>
      </p:sp>
      <p:sp>
        <p:nvSpPr>
          <p:cNvPr id="27" name="Text 5"/>
          <p:cNvSpPr/>
          <p:nvPr/>
        </p:nvSpPr>
        <p:spPr>
          <a:xfrm>
            <a:off x="838200" y="4114800"/>
            <a:ext cx="380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"uv offers significant performance improvements and built-in features specifically designed for managing complex dependency graphs in a monorepo context."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5251400" y="1333500"/>
            <a:ext cx="64832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Capabilities</a:t>
            </a:r>
            <a:endParaRPr lang="en-US" sz="1800" dirty="0"/>
          </a:p>
        </p:txBody>
      </p:sp>
      <p:sp>
        <p:nvSpPr>
          <p:cNvPr id="29" name="Text 7"/>
          <p:cNvSpPr/>
          <p:nvPr/>
        </p:nvSpPr>
        <p:spPr>
          <a:xfrm>
            <a:off x="6041975" y="1981200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Blazing Fast</a:t>
            </a:r>
            <a:endParaRPr lang="en-US" sz="1500" dirty="0"/>
          </a:p>
        </p:txBody>
      </p:sp>
      <p:sp>
        <p:nvSpPr>
          <p:cNvPr id="30" name="Text 8"/>
          <p:cNvSpPr/>
          <p:nvPr/>
        </p:nvSpPr>
        <p:spPr>
          <a:xfrm>
            <a:off x="5441900" y="2590800"/>
            <a:ext cx="27653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Rust-based implementation provides significant performance improvements for Python package management operations.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9378851" y="1981200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Workspace Support</a:t>
            </a:r>
            <a:endParaRPr lang="en-US" sz="1500" dirty="0"/>
          </a:p>
        </p:txBody>
      </p:sp>
      <p:sp>
        <p:nvSpPr>
          <p:cNvPr id="32" name="Text 10"/>
          <p:cNvSpPr/>
          <p:nvPr/>
        </p:nvSpPr>
        <p:spPr>
          <a:xfrm>
            <a:off x="8778776" y="2590800"/>
            <a:ext cx="27653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Native support for monorepo workspaces, enabling efficient management of multiple packages within a single repository.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5994350" y="4076700"/>
            <a:ext cx="22129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Unified Dependency Management</a:t>
            </a:r>
            <a:endParaRPr lang="en-US" sz="1500" dirty="0"/>
          </a:p>
        </p:txBody>
      </p:sp>
      <p:sp>
        <p:nvSpPr>
          <p:cNvPr id="34" name="Text 12"/>
          <p:cNvSpPr/>
          <p:nvPr/>
        </p:nvSpPr>
        <p:spPr>
          <a:xfrm>
            <a:off x="5441900" y="4724400"/>
            <a:ext cx="27653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Manages dependencies across all projects in the monorepo with a consistent lockfile, preventing conflicts and ensuring reproducibility.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9350276" y="4076700"/>
            <a:ext cx="19545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Integrated Solution</a:t>
            </a:r>
            <a:endParaRPr lang="en-US" sz="1500" dirty="0"/>
          </a:p>
        </p:txBody>
      </p:sp>
      <p:sp>
        <p:nvSpPr>
          <p:cNvPr id="36" name="Text 14"/>
          <p:cNvSpPr/>
          <p:nvPr/>
        </p:nvSpPr>
        <p:spPr>
          <a:xfrm>
            <a:off x="8778776" y="4686300"/>
            <a:ext cx="27653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Combines package installation, dependency resolution, and environment management in a single, cohesive toolchain.</a:t>
            </a:r>
            <a:endParaRPr lang="en-US" sz="1200" dirty="0"/>
          </a:p>
        </p:txBody>
      </p:sp>
      <p:sp>
        <p:nvSpPr>
          <p:cNvPr id="37" name="Text 15"/>
          <p:cNvSpPr/>
          <p:nvPr/>
        </p:nvSpPr>
        <p:spPr>
          <a:xfrm>
            <a:off x="11763375" y="6505575"/>
            <a:ext cx="3314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6/14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7348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906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33500"/>
            <a:ext cx="11277600" cy="6477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286000"/>
            <a:ext cx="5524500" cy="14859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514600"/>
            <a:ext cx="275332" cy="571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166" y="264795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2286000"/>
            <a:ext cx="5524500" cy="14859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2514600"/>
            <a:ext cx="266998" cy="5715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2386" y="2647950"/>
            <a:ext cx="200025" cy="304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000500"/>
            <a:ext cx="5524500" cy="12573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4229100"/>
            <a:ext cx="294382" cy="5715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7266" y="4362450"/>
            <a:ext cx="171450" cy="3048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4000500"/>
            <a:ext cx="5524500" cy="12573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4229100"/>
            <a:ext cx="306437" cy="5715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9169" y="4362450"/>
            <a:ext cx="285750" cy="3048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5562600"/>
            <a:ext cx="11277600" cy="5334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5753100"/>
            <a:ext cx="152400" cy="1524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UV Key Features for Monorepos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647700" y="1524000"/>
            <a:ext cx="130759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uv offers specialized features for monorepo management, providing fast and reliable package installation across your entire codebase.</a:t>
            </a:r>
            <a:endParaRPr lang="en-US" sz="1350" dirty="0"/>
          </a:p>
        </p:txBody>
      </p:sp>
      <p:sp>
        <p:nvSpPr>
          <p:cNvPr id="22" name="Text 2"/>
          <p:cNvSpPr/>
          <p:nvPr/>
        </p:nvSpPr>
        <p:spPr>
          <a:xfrm>
            <a:off x="1151632" y="2514600"/>
            <a:ext cx="46014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Workspace Management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1151632" y="2857500"/>
            <a:ext cx="46014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Manages multiple packages within a single workspace, allowing coordinated updates and consistent versions across related projects.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6896398" y="2514600"/>
            <a:ext cx="46098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Unified Lockfiles</a:t>
            </a:r>
            <a:endParaRPr lang="en-US" sz="1500" dirty="0"/>
          </a:p>
        </p:txBody>
      </p:sp>
      <p:sp>
        <p:nvSpPr>
          <p:cNvPr id="25" name="Text 5"/>
          <p:cNvSpPr/>
          <p:nvPr/>
        </p:nvSpPr>
        <p:spPr>
          <a:xfrm>
            <a:off x="6896398" y="2857500"/>
            <a:ext cx="46098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Maintains a single lockfile for the entire monorepo, ensuring consistent dependency versions and preventing conflicts between packages.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1170682" y="4229100"/>
            <a:ext cx="54989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 Dependency Resolution</a:t>
            </a:r>
            <a:endParaRPr lang="en-US" sz="1500" dirty="0"/>
          </a:p>
        </p:txBody>
      </p:sp>
      <p:sp>
        <p:nvSpPr>
          <p:cNvPr id="27" name="Text 7"/>
          <p:cNvSpPr/>
          <p:nvPr/>
        </p:nvSpPr>
        <p:spPr>
          <a:xfrm>
            <a:off x="1170682" y="4572000"/>
            <a:ext cx="4582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Extremely fast dependency resolution algorithm that scales efficiently as your monorepo grows, reducing installation times.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6935837" y="4229100"/>
            <a:ext cx="54844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Version Management</a:t>
            </a:r>
            <a:endParaRPr lang="en-US" sz="1500" dirty="0"/>
          </a:p>
        </p:txBody>
      </p:sp>
      <p:sp>
        <p:nvSpPr>
          <p:cNvPr id="29" name="Text 9"/>
          <p:cNvSpPr/>
          <p:nvPr/>
        </p:nvSpPr>
        <p:spPr>
          <a:xfrm>
            <a:off x="6935837" y="4572000"/>
            <a:ext cx="4570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Seamlessly manages Python versions across packages, ensuring compatibility and consistent execution environments.</a:t>
            </a:r>
            <a:endParaRPr lang="en-US" sz="1200" dirty="0"/>
          </a:p>
        </p:txBody>
      </p:sp>
      <p:sp>
        <p:nvSpPr>
          <p:cNvPr id="30" name="Text 10"/>
          <p:cNvSpPr/>
          <p:nvPr/>
        </p:nvSpPr>
        <p:spPr>
          <a:xfrm>
            <a:off x="838200" y="5715000"/>
            <a:ext cx="1316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features make uv particularly well-suited for monorepo environments where consistency and speed are critical.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11763375" y="6505575"/>
            <a:ext cx="3314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7/14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048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734800" cy="7048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906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57300"/>
            <a:ext cx="11277600" cy="762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247900"/>
            <a:ext cx="5524500" cy="3352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2438400"/>
            <a:ext cx="457200" cy="533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255270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35433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38481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41529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4495800"/>
            <a:ext cx="5143500" cy="6096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4629150"/>
            <a:ext cx="114300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2247900"/>
            <a:ext cx="5524500" cy="33528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2438400"/>
            <a:ext cx="514350" cy="533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15100" y="2552700"/>
            <a:ext cx="285750" cy="3048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35433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38481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41529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44577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4800600"/>
            <a:ext cx="5143500" cy="6096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15100" y="4933950"/>
            <a:ext cx="114300" cy="1524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7200" y="5829300"/>
            <a:ext cx="11277600" cy="7620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9600" y="6076950"/>
            <a:ext cx="190500" cy="2667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CI/CD Alternatives Without GitHub Actions</a:t>
            </a:r>
            <a:endParaRPr lang="en-US" sz="2700" dirty="0"/>
          </a:p>
        </p:txBody>
      </p:sp>
      <p:sp>
        <p:nvSpPr>
          <p:cNvPr id="26" name="Text 1"/>
          <p:cNvSpPr/>
          <p:nvPr/>
        </p:nvSpPr>
        <p:spPr>
          <a:xfrm>
            <a:off x="609600" y="14097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Since GitHub Actions is unavailable, we explore GitLab CI/CD and Jenkins as robust alternatives for our Python monorepo, ensuring efficient and automated code delivery.</a:t>
            </a:r>
            <a:endParaRPr lang="en-US" sz="1200" dirty="0"/>
          </a:p>
        </p:txBody>
      </p:sp>
      <p:sp>
        <p:nvSpPr>
          <p:cNvPr id="27" name="Text 2"/>
          <p:cNvSpPr/>
          <p:nvPr/>
        </p:nvSpPr>
        <p:spPr>
          <a:xfrm>
            <a:off x="1257300" y="2552700"/>
            <a:ext cx="160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GitLab CI/CD</a:t>
            </a:r>
            <a:endParaRPr lang="en-US" sz="1800" dirty="0"/>
          </a:p>
        </p:txBody>
      </p:sp>
      <p:sp>
        <p:nvSpPr>
          <p:cNvPr id="28" name="Text 3"/>
          <p:cNvSpPr/>
          <p:nvPr/>
        </p:nvSpPr>
        <p:spPr>
          <a:xfrm>
            <a:off x="647700" y="3124200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Native CI/CD solution for GitLab with powerful features for monorepos: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876300" y="3505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Conditional pipelines based on changed files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876300" y="3810000"/>
            <a:ext cx="4994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Include with rules:changes for selective pipeline execution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876300" y="4114800"/>
            <a:ext cx="42633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Multiple pipeline configurations in one repository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952500" y="4610100"/>
            <a:ext cx="9372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Benefit:</a:t>
            </a:r>
            <a:endParaRPr lang="en-US" sz="1050" dirty="0"/>
          </a:p>
        </p:txBody>
      </p:sp>
      <p:sp>
        <p:nvSpPr>
          <p:cNvPr id="33" name="Text 8"/>
          <p:cNvSpPr/>
          <p:nvPr/>
        </p:nvSpPr>
        <p:spPr>
          <a:xfrm>
            <a:off x="762000" y="4800600"/>
            <a:ext cx="58978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Efficiently builds and tests only changed components in your monorepo.</a:t>
            </a:r>
            <a:endParaRPr lang="en-US" sz="1050" dirty="0"/>
          </a:p>
        </p:txBody>
      </p:sp>
      <p:sp>
        <p:nvSpPr>
          <p:cNvPr id="34" name="Text 9"/>
          <p:cNvSpPr/>
          <p:nvPr/>
        </p:nvSpPr>
        <p:spPr>
          <a:xfrm>
            <a:off x="7067550" y="2552700"/>
            <a:ext cx="9486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Jenkins</a:t>
            </a:r>
            <a:endParaRPr lang="en-US" sz="1800" dirty="0"/>
          </a:p>
        </p:txBody>
      </p:sp>
      <p:sp>
        <p:nvSpPr>
          <p:cNvPr id="35" name="Text 10"/>
          <p:cNvSpPr/>
          <p:nvPr/>
        </p:nvSpPr>
        <p:spPr>
          <a:xfrm>
            <a:off x="6400800" y="3124200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Open-source automation server with extensive capabilities:</a:t>
            </a:r>
            <a:endParaRPr lang="en-US" sz="1200" dirty="0"/>
          </a:p>
        </p:txBody>
      </p:sp>
      <p:sp>
        <p:nvSpPr>
          <p:cNvPr id="36" name="Text 11"/>
          <p:cNvSpPr/>
          <p:nvPr/>
        </p:nvSpPr>
        <p:spPr>
          <a:xfrm>
            <a:off x="6629400" y="3505200"/>
            <a:ext cx="491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Multi-branch pipelines for automated build management</a:t>
            </a:r>
            <a:endParaRPr lang="en-US" sz="1200" dirty="0"/>
          </a:p>
        </p:txBody>
      </p:sp>
      <p:sp>
        <p:nvSpPr>
          <p:cNvPr id="37" name="Text 12"/>
          <p:cNvSpPr/>
          <p:nvPr/>
        </p:nvSpPr>
        <p:spPr>
          <a:xfrm>
            <a:off x="6629400" y="3810000"/>
            <a:ext cx="34632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Parallel stage execution for faster builds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6629400" y="4114800"/>
            <a:ext cx="3440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Changeset detection for selective builds</a:t>
            </a:r>
            <a:endParaRPr lang="en-US" sz="1200" dirty="0"/>
          </a:p>
        </p:txBody>
      </p:sp>
      <p:sp>
        <p:nvSpPr>
          <p:cNvPr id="39" name="Text 14"/>
          <p:cNvSpPr/>
          <p:nvPr/>
        </p:nvSpPr>
        <p:spPr>
          <a:xfrm>
            <a:off x="6629400" y="4419600"/>
            <a:ext cx="3714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Kubernetes integration for dynamic agents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6705600" y="4914900"/>
            <a:ext cx="9372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Benefit:</a:t>
            </a:r>
            <a:endParaRPr lang="en-US" sz="1050" dirty="0"/>
          </a:p>
        </p:txBody>
      </p:sp>
      <p:sp>
        <p:nvSpPr>
          <p:cNvPr id="41" name="Text 16"/>
          <p:cNvSpPr/>
          <p:nvPr/>
        </p:nvSpPr>
        <p:spPr>
          <a:xfrm>
            <a:off x="6515100" y="5105400"/>
            <a:ext cx="58978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Highly configurable with strong support for complex monorepo workflows.</a:t>
            </a:r>
            <a:endParaRPr lang="en-US" sz="1050" dirty="0"/>
          </a:p>
        </p:txBody>
      </p:sp>
      <p:sp>
        <p:nvSpPr>
          <p:cNvPr id="42" name="Text 17"/>
          <p:cNvSpPr/>
          <p:nvPr/>
        </p:nvSpPr>
        <p:spPr>
          <a:xfrm>
            <a:off x="914400" y="5981700"/>
            <a:ext cx="1066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Consideration: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Both solutions require configuration to enable selective pipeline execution based on changed files to maintain efficiency in your monorepo.</a:t>
            </a:r>
            <a:endParaRPr lang="en-US" sz="1200" dirty="0"/>
          </a:p>
        </p:txBody>
      </p:sp>
      <p:sp>
        <p:nvSpPr>
          <p:cNvPr id="43" name="Text 18"/>
          <p:cNvSpPr/>
          <p:nvPr/>
        </p:nvSpPr>
        <p:spPr>
          <a:xfrm>
            <a:off x="11763375" y="6696075"/>
            <a:ext cx="3314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8/14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1247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734800" cy="7124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906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57300"/>
            <a:ext cx="4565600" cy="1676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1447800"/>
            <a:ext cx="400050" cy="4953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562100"/>
            <a:ext cx="171450" cy="2667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162300"/>
            <a:ext cx="4565600" cy="18288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3352800"/>
            <a:ext cx="419100" cy="4953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3467100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1400" y="1295400"/>
            <a:ext cx="142875" cy="190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51400" y="1638300"/>
            <a:ext cx="6483251" cy="50292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GitLab CI/CD Implementation Example</a:t>
            </a:r>
            <a:endParaRPr lang="en-US" sz="2700" dirty="0"/>
          </a:p>
        </p:txBody>
      </p:sp>
      <p:sp>
        <p:nvSpPr>
          <p:cNvPr id="14" name="Text 1"/>
          <p:cNvSpPr/>
          <p:nvPr/>
        </p:nvSpPr>
        <p:spPr>
          <a:xfrm>
            <a:off x="1200150" y="1447800"/>
            <a:ext cx="2868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Selective Pipeline Execution</a:t>
            </a:r>
            <a:endParaRPr lang="en-US" sz="1500" dirty="0"/>
          </a:p>
        </p:txBody>
      </p:sp>
      <p:sp>
        <p:nvSpPr>
          <p:cNvPr id="15" name="Text 2"/>
          <p:cNvSpPr/>
          <p:nvPr/>
        </p:nvSpPr>
        <p:spPr>
          <a:xfrm>
            <a:off x="647700" y="2057400"/>
            <a:ext cx="418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GitLab CI/CD allows for conditional pipeline execution based on file path changes, enabling efficient monorepo management.</a:t>
            </a:r>
            <a:endParaRPr lang="en-US" sz="1200" dirty="0"/>
          </a:p>
        </p:txBody>
      </p:sp>
      <p:sp>
        <p:nvSpPr>
          <p:cNvPr id="16" name="Text 3"/>
          <p:cNvSpPr/>
          <p:nvPr/>
        </p:nvSpPr>
        <p:spPr>
          <a:xfrm>
            <a:off x="1219200" y="3352800"/>
            <a:ext cx="1303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Benefits</a:t>
            </a:r>
            <a:endParaRPr lang="en-US" sz="1500" dirty="0"/>
          </a:p>
        </p:txBody>
      </p:sp>
      <p:sp>
        <p:nvSpPr>
          <p:cNvPr id="17" name="Text 4"/>
          <p:cNvSpPr/>
          <p:nvPr/>
        </p:nvSpPr>
        <p:spPr>
          <a:xfrm>
            <a:off x="762000" y="3962400"/>
            <a:ext cx="488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builds/test relevant components</a:t>
            </a:r>
            <a:endParaRPr lang="en-US" sz="1200" dirty="0"/>
          </a:p>
        </p:txBody>
      </p:sp>
      <p:sp>
        <p:nvSpPr>
          <p:cNvPr id="18" name="Text 5"/>
          <p:cNvSpPr/>
          <p:nvPr/>
        </p:nvSpPr>
        <p:spPr>
          <a:xfrm>
            <a:off x="762000" y="4267200"/>
            <a:ext cx="488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Reduces CI/CD execution time</a:t>
            </a:r>
            <a:endParaRPr lang="en-US" sz="1200" dirty="0"/>
          </a:p>
        </p:txBody>
      </p:sp>
      <p:sp>
        <p:nvSpPr>
          <p:cNvPr id="19" name="Text 6"/>
          <p:cNvSpPr/>
          <p:nvPr/>
        </p:nvSpPr>
        <p:spPr>
          <a:xfrm>
            <a:off x="762000" y="4572000"/>
            <a:ext cx="488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Improves developer productivity</a:t>
            </a:r>
            <a:endParaRPr lang="en-US" sz="1200" dirty="0"/>
          </a:p>
        </p:txBody>
      </p:sp>
      <p:sp>
        <p:nvSpPr>
          <p:cNvPr id="20" name="Text 7"/>
          <p:cNvSpPr/>
          <p:nvPr/>
        </p:nvSpPr>
        <p:spPr>
          <a:xfrm>
            <a:off x="5470475" y="1257300"/>
            <a:ext cx="64832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.gitlab-ci.yml</a:t>
            </a:r>
            <a:endParaRPr lang="en-US" sz="1500" dirty="0"/>
          </a:p>
        </p:txBody>
      </p:sp>
      <p:sp>
        <p:nvSpPr>
          <p:cNvPr id="21" name="Text 8"/>
          <p:cNvSpPr/>
          <p:nvPr/>
        </p:nvSpPr>
        <p:spPr>
          <a:xfrm>
            <a:off x="5480000" y="1638300"/>
            <a:ext cx="6483251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Top-level pipeline definition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stages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- build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- test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- deploy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top-level-job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stage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build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script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- echo "Running common build steps..."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Conditionally include application-specific pipelines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- local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'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/applications/api-service/.gitlab-ci.yml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changes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'applications/api-service/**/*'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'packages/common-utils/**/*'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local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'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/applications/worker-service/.gitlab-ci.yml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changes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'applications/worker-service/**/*'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'packages/data-models/**/*'</a:t>
            </a:r>
            <a:endParaRPr lang="en-US" sz="1050" dirty="0"/>
          </a:p>
        </p:txBody>
      </p:sp>
      <p:sp>
        <p:nvSpPr>
          <p:cNvPr id="22" name="Text 9"/>
          <p:cNvSpPr/>
          <p:nvPr/>
        </p:nvSpPr>
        <p:spPr>
          <a:xfrm>
            <a:off x="11763375" y="6772275"/>
            <a:ext cx="3314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9/14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11811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763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43000"/>
            <a:ext cx="4629150" cy="2362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905000"/>
            <a:ext cx="285750" cy="381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019300"/>
            <a:ext cx="13335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438400"/>
            <a:ext cx="304800" cy="3810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5527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2971800"/>
            <a:ext cx="304800" cy="3810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0861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3657600"/>
            <a:ext cx="2257425" cy="11430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" y="3829050"/>
            <a:ext cx="114300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52725" y="3657600"/>
            <a:ext cx="2257425" cy="11430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67025" y="382905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4914900"/>
            <a:ext cx="2257425" cy="11430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5300" y="508635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52725" y="4914900"/>
            <a:ext cx="2257425" cy="11430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7025" y="5086350"/>
            <a:ext cx="19050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38750" y="1143000"/>
            <a:ext cx="6572250" cy="35433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38750" y="4800600"/>
            <a:ext cx="6572250" cy="85725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Jenkins Pipeline for Monorepo Management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533400" y="1295400"/>
            <a:ext cx="4324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Jenkins declarative pipeline enables efficient monorepo management through:</a:t>
            </a:r>
            <a:endParaRPr lang="en-US" sz="1200" dirty="0"/>
          </a:p>
        </p:txBody>
      </p:sp>
      <p:sp>
        <p:nvSpPr>
          <p:cNvPr id="24" name="Text 2"/>
          <p:cNvSpPr/>
          <p:nvPr/>
        </p:nvSpPr>
        <p:spPr>
          <a:xfrm>
            <a:off x="933450" y="1866900"/>
            <a:ext cx="451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Multi-branch pipelines supporting parallel execution</a:t>
            </a:r>
            <a:endParaRPr lang="en-US" sz="1200" dirty="0"/>
          </a:p>
        </p:txBody>
      </p:sp>
      <p:sp>
        <p:nvSpPr>
          <p:cNvPr id="25" name="Text 3"/>
          <p:cNvSpPr/>
          <p:nvPr/>
        </p:nvSpPr>
        <p:spPr>
          <a:xfrm>
            <a:off x="952500" y="2400300"/>
            <a:ext cx="3440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Changeset detection for selective builds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952500" y="2933700"/>
            <a:ext cx="3714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Kubernetes integration for dynamic agents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685800" y="3771900"/>
            <a:ext cx="16802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Parallel Execution</a:t>
            </a:r>
            <a:endParaRPr lang="en-US" sz="1350" dirty="0"/>
          </a:p>
        </p:txBody>
      </p:sp>
      <p:sp>
        <p:nvSpPr>
          <p:cNvPr id="28" name="Text 6"/>
          <p:cNvSpPr/>
          <p:nvPr/>
        </p:nvSpPr>
        <p:spPr>
          <a:xfrm>
            <a:off x="495300" y="4114800"/>
            <a:ext cx="20288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multiple component builds concurrently to reduce overall build time</a:t>
            </a:r>
            <a:endParaRPr lang="en-US" sz="1050" dirty="0"/>
          </a:p>
        </p:txBody>
      </p:sp>
      <p:sp>
        <p:nvSpPr>
          <p:cNvPr id="29" name="Text 7"/>
          <p:cNvSpPr/>
          <p:nvPr/>
        </p:nvSpPr>
        <p:spPr>
          <a:xfrm>
            <a:off x="3095625" y="3771900"/>
            <a:ext cx="1931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Changeset Detection</a:t>
            </a:r>
            <a:endParaRPr lang="en-US" sz="1350" dirty="0"/>
          </a:p>
        </p:txBody>
      </p:sp>
      <p:sp>
        <p:nvSpPr>
          <p:cNvPr id="30" name="Text 8"/>
          <p:cNvSpPr/>
          <p:nvPr/>
        </p:nvSpPr>
        <p:spPr>
          <a:xfrm>
            <a:off x="2867025" y="4114800"/>
            <a:ext cx="20288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process components that have been modified, ignoring unchanged projects</a:t>
            </a:r>
            <a:endParaRPr lang="en-US" sz="1050" dirty="0"/>
          </a:p>
        </p:txBody>
      </p:sp>
      <p:sp>
        <p:nvSpPr>
          <p:cNvPr id="31" name="Text 9"/>
          <p:cNvSpPr/>
          <p:nvPr/>
        </p:nvSpPr>
        <p:spPr>
          <a:xfrm>
            <a:off x="723900" y="5029200"/>
            <a:ext cx="1920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Component Isolation</a:t>
            </a:r>
            <a:endParaRPr lang="en-US" sz="1350" dirty="0"/>
          </a:p>
        </p:txBody>
      </p:sp>
      <p:sp>
        <p:nvSpPr>
          <p:cNvPr id="32" name="Text 10"/>
          <p:cNvSpPr/>
          <p:nvPr/>
        </p:nvSpPr>
        <p:spPr>
          <a:xfrm>
            <a:off x="495300" y="5372100"/>
            <a:ext cx="20288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and test components in isolation with their specific dependencies</a:t>
            </a:r>
            <a:endParaRPr lang="en-US" sz="1050" dirty="0"/>
          </a:p>
        </p:txBody>
      </p:sp>
      <p:sp>
        <p:nvSpPr>
          <p:cNvPr id="33" name="Text 11"/>
          <p:cNvSpPr/>
          <p:nvPr/>
        </p:nvSpPr>
        <p:spPr>
          <a:xfrm>
            <a:off x="3133725" y="5029200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Dynamic Scaling</a:t>
            </a:r>
            <a:endParaRPr lang="en-US" sz="1350" dirty="0"/>
          </a:p>
        </p:txBody>
      </p:sp>
      <p:sp>
        <p:nvSpPr>
          <p:cNvPr id="34" name="Text 12"/>
          <p:cNvSpPr/>
          <p:nvPr/>
        </p:nvSpPr>
        <p:spPr>
          <a:xfrm>
            <a:off x="2867025" y="5372100"/>
            <a:ext cx="2028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Kubernetes integration enables efficient resource utilization</a:t>
            </a:r>
            <a:endParaRPr lang="en-US" sz="1050" dirty="0"/>
          </a:p>
        </p:txBody>
      </p:sp>
      <p:sp>
        <p:nvSpPr>
          <p:cNvPr id="35" name="Text 13"/>
          <p:cNvSpPr/>
          <p:nvPr/>
        </p:nvSpPr>
        <p:spPr>
          <a:xfrm>
            <a:off x="5391150" y="1143000"/>
            <a:ext cx="6572250" cy="35433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Jenkinsfile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kubernetes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Orchestrator agent configuration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}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timestamps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ansiColor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'xterm'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}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stages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'Verify Configuration'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Common validation steps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'uv --version'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'git --version'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} }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'Build Components'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'Common Utils'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expression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hasChangesIn(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'packages/common-utils'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} }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kubernetes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Component-specific agent configuration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}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stages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'Test'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'packages/common-utils'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'uv sync'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'uv run pytest'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} } } }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'API Service'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expression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hasChangesIn(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'applications/api-service'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|| hasChangesIn(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'packages/common-utils'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} }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kubernetes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Component-specific agent configuration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}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stages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'Build'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'applications/api-service'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'uv sync'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'uv run build'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} }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'Test'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'applications/api-service'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'uv run pytest'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} } } }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Additional component stages...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}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'Aggregate Results'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Aggregate test results, coverage reports, etc.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} } } }</a:t>
            </a:r>
            <a:endParaRPr lang="en-US" sz="1050" dirty="0"/>
          </a:p>
        </p:txBody>
      </p:sp>
      <p:sp>
        <p:nvSpPr>
          <p:cNvPr id="36" name="Text 14"/>
          <p:cNvSpPr/>
          <p:nvPr/>
        </p:nvSpPr>
        <p:spPr>
          <a:xfrm>
            <a:off x="5353050" y="4914900"/>
            <a:ext cx="634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Function:</a:t>
            </a:r>
            <a:endParaRPr lang="en-US" sz="1050" dirty="0"/>
          </a:p>
        </p:txBody>
      </p:sp>
      <p:sp>
        <p:nvSpPr>
          <p:cNvPr id="37" name="Text 15"/>
          <p:cNvSpPr/>
          <p:nvPr/>
        </p:nvSpPr>
        <p:spPr>
          <a:xfrm>
            <a:off x="5353050" y="5143500"/>
            <a:ext cx="63436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hasChangesIn()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function determines if changes occurred in a directory, enabling selective execution of pipeline stages based on modified code.</a:t>
            </a:r>
            <a:endParaRPr lang="en-US" sz="1050" dirty="0"/>
          </a:p>
        </p:txBody>
      </p:sp>
      <p:sp>
        <p:nvSpPr>
          <p:cNvPr id="38" name="Text 16"/>
          <p:cNvSpPr/>
          <p:nvPr/>
        </p:nvSpPr>
        <p:spPr>
          <a:xfrm>
            <a:off x="11687175" y="6505575"/>
            <a:ext cx="4229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10/14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961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734800" cy="6896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906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33500"/>
            <a:ext cx="11277600" cy="914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552700"/>
            <a:ext cx="5524500" cy="14097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2743200"/>
            <a:ext cx="457200" cy="533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285750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2552700"/>
            <a:ext cx="5524500" cy="14097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2743200"/>
            <a:ext cx="457200" cy="533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5100" y="285750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191000"/>
            <a:ext cx="5524500" cy="11811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4381500"/>
            <a:ext cx="485775" cy="533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4495800"/>
            <a:ext cx="257175" cy="3048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4191000"/>
            <a:ext cx="5524500" cy="11811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4381500"/>
            <a:ext cx="457200" cy="533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15100" y="4495800"/>
            <a:ext cx="228600" cy="3048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5676900"/>
            <a:ext cx="11277600" cy="7620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5905500"/>
            <a:ext cx="171450" cy="3048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AI-Powered Code Review Automation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647700" y="1524000"/>
            <a:ext cx="10896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agents can significantly augment our code review process by performing initial checks and providing actionable feedback, enhancing code quality and consistency across the monorepo.</a:t>
            </a:r>
            <a:endParaRPr lang="en-US" sz="1350" dirty="0"/>
          </a:p>
        </p:txBody>
      </p:sp>
      <p:sp>
        <p:nvSpPr>
          <p:cNvPr id="22" name="Text 2"/>
          <p:cNvSpPr/>
          <p:nvPr/>
        </p:nvSpPr>
        <p:spPr>
          <a:xfrm>
            <a:off x="1257300" y="2743200"/>
            <a:ext cx="54406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Style Guide Compliance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1257300" y="3086100"/>
            <a:ext cx="4533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Automatically check code against defined style guides (e.g., Black, Flake8) and suggest corrections, ensuring a consistent codebase.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7010400" y="2743200"/>
            <a:ext cx="54406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Bug &amp; Anti-Pattern Detection</a:t>
            </a:r>
            <a:endParaRPr lang="en-US" sz="1500" dirty="0"/>
          </a:p>
        </p:txBody>
      </p:sp>
      <p:sp>
        <p:nvSpPr>
          <p:cNvPr id="25" name="Text 5"/>
          <p:cNvSpPr/>
          <p:nvPr/>
        </p:nvSpPr>
        <p:spPr>
          <a:xfrm>
            <a:off x="7010400" y="3086100"/>
            <a:ext cx="4533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 code for common programming errors, logical flaws, and anti-patterns, flagging them for developer attention.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1285875" y="4381500"/>
            <a:ext cx="54063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Optimization</a:t>
            </a:r>
            <a:endParaRPr lang="en-US" sz="1500" dirty="0"/>
          </a:p>
        </p:txBody>
      </p:sp>
      <p:sp>
        <p:nvSpPr>
          <p:cNvPr id="27" name="Text 7"/>
          <p:cNvSpPr/>
          <p:nvPr/>
        </p:nvSpPr>
        <p:spPr>
          <a:xfrm>
            <a:off x="1285875" y="4724400"/>
            <a:ext cx="4505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 inefficient code segments or algorithms and propose optimizations to enhance application performance.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7010400" y="4381500"/>
            <a:ext cx="54406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Vulnerability Scanning</a:t>
            </a:r>
            <a:endParaRPr lang="en-US" sz="1500" dirty="0"/>
          </a:p>
        </p:txBody>
      </p:sp>
      <p:sp>
        <p:nvSpPr>
          <p:cNvPr id="29" name="Text 9"/>
          <p:cNvSpPr/>
          <p:nvPr/>
        </p:nvSpPr>
        <p:spPr>
          <a:xfrm>
            <a:off x="7010400" y="4724400"/>
            <a:ext cx="4533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Scan for known security vulnerabilities and insecure coding practices, helping to secure applications early in development.</a:t>
            </a:r>
            <a:endParaRPr lang="en-US" sz="1200" dirty="0"/>
          </a:p>
        </p:txBody>
      </p:sp>
      <p:sp>
        <p:nvSpPr>
          <p:cNvPr id="30" name="Text 10"/>
          <p:cNvSpPr/>
          <p:nvPr/>
        </p:nvSpPr>
        <p:spPr>
          <a:xfrm>
            <a:off x="895350" y="5829300"/>
            <a:ext cx="10687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advantage: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Advanced AI agents understand interdependencies within the monorepo, providing more relevant suggestions and reducing false positives.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11687175" y="6543675"/>
            <a:ext cx="4229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11/14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7348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906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33500"/>
            <a:ext cx="11277600" cy="9906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628900"/>
            <a:ext cx="3606701" cy="2667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857500"/>
            <a:ext cx="457200" cy="533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297180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5814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1148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6482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92501" y="2628900"/>
            <a:ext cx="3606850" cy="26670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21101" y="2857500"/>
            <a:ext cx="457200" cy="533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35401" y="297180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21101" y="35814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21101" y="41148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21101" y="44196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27950" y="2628900"/>
            <a:ext cx="3606701" cy="26670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56550" y="2857500"/>
            <a:ext cx="457200" cy="533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70850" y="2971800"/>
            <a:ext cx="228600" cy="3048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56550" y="35814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56550" y="41148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56550" y="464820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7200" y="5600700"/>
            <a:ext cx="11277600" cy="5715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9600" y="5753100"/>
            <a:ext cx="142875" cy="2667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AI-Driven Dependency Management</a:t>
            </a:r>
            <a:endParaRPr lang="en-US" sz="2700" dirty="0"/>
          </a:p>
        </p:txBody>
      </p:sp>
      <p:sp>
        <p:nvSpPr>
          <p:cNvPr id="27" name="Text 1"/>
          <p:cNvSpPr/>
          <p:nvPr/>
        </p:nvSpPr>
        <p:spPr>
          <a:xfrm>
            <a:off x="685800" y="1562100"/>
            <a:ext cx="10820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agents automate and optimize dependency management in monorepos, ensuring projects remain up-to-date, secure, and free from conflicts.</a:t>
            </a:r>
            <a:endParaRPr lang="en-US" sz="1350" dirty="0"/>
          </a:p>
        </p:txBody>
      </p:sp>
      <p:sp>
        <p:nvSpPr>
          <p:cNvPr id="28" name="Text 2"/>
          <p:cNvSpPr/>
          <p:nvPr/>
        </p:nvSpPr>
        <p:spPr>
          <a:xfrm>
            <a:off x="1295400" y="2990850"/>
            <a:ext cx="29832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Package Updates</a:t>
            </a:r>
            <a:endParaRPr lang="en-US" sz="1500" dirty="0"/>
          </a:p>
        </p:txBody>
      </p:sp>
      <p:sp>
        <p:nvSpPr>
          <p:cNvPr id="29" name="Text 3"/>
          <p:cNvSpPr/>
          <p:nvPr/>
        </p:nvSpPr>
        <p:spPr>
          <a:xfrm>
            <a:off x="914400" y="3543300"/>
            <a:ext cx="29209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Continuously monitors for outdated packages</a:t>
            </a:r>
            <a:endParaRPr lang="en-US" sz="1200" dirty="0"/>
          </a:p>
        </p:txBody>
      </p:sp>
      <p:sp>
        <p:nvSpPr>
          <p:cNvPr id="30" name="Text 4"/>
          <p:cNvSpPr/>
          <p:nvPr/>
        </p:nvSpPr>
        <p:spPr>
          <a:xfrm>
            <a:off x="914400" y="4076700"/>
            <a:ext cx="29209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Suggests updates to latest stable versions</a:t>
            </a:r>
            <a:endParaRPr lang="en-US" sz="1200" dirty="0"/>
          </a:p>
        </p:txBody>
      </p:sp>
      <p:sp>
        <p:nvSpPr>
          <p:cNvPr id="31" name="Text 5"/>
          <p:cNvSpPr/>
          <p:nvPr/>
        </p:nvSpPr>
        <p:spPr>
          <a:xfrm>
            <a:off x="914400" y="4610100"/>
            <a:ext cx="29209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Automates version compatibility checking</a:t>
            </a:r>
            <a:endParaRPr lang="en-US" sz="1200" dirty="0"/>
          </a:p>
        </p:txBody>
      </p:sp>
      <p:sp>
        <p:nvSpPr>
          <p:cNvPr id="32" name="Text 6"/>
          <p:cNvSpPr/>
          <p:nvPr/>
        </p:nvSpPr>
        <p:spPr>
          <a:xfrm>
            <a:off x="5130701" y="2990850"/>
            <a:ext cx="23202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Vulnerability Detection</a:t>
            </a:r>
            <a:endParaRPr lang="en-US" sz="1500" dirty="0"/>
          </a:p>
        </p:txBody>
      </p:sp>
      <p:sp>
        <p:nvSpPr>
          <p:cNvPr id="33" name="Text 7"/>
          <p:cNvSpPr/>
          <p:nvPr/>
        </p:nvSpPr>
        <p:spPr>
          <a:xfrm>
            <a:off x="4749701" y="3543300"/>
            <a:ext cx="2921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Scans dependency trees for known vulnerabilities</a:t>
            </a:r>
            <a:endParaRPr lang="en-US" sz="1200" dirty="0"/>
          </a:p>
        </p:txBody>
      </p:sp>
      <p:sp>
        <p:nvSpPr>
          <p:cNvPr id="34" name="Text 8"/>
          <p:cNvSpPr/>
          <p:nvPr/>
        </p:nvSpPr>
        <p:spPr>
          <a:xfrm>
            <a:off x="4749701" y="40767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Alerts teams to critical security issues</a:t>
            </a:r>
            <a:endParaRPr lang="en-US" sz="1200" dirty="0"/>
          </a:p>
        </p:txBody>
      </p:sp>
      <p:sp>
        <p:nvSpPr>
          <p:cNvPr id="35" name="Text 9"/>
          <p:cNvSpPr/>
          <p:nvPr/>
        </p:nvSpPr>
        <p:spPr>
          <a:xfrm>
            <a:off x="4749701" y="4381500"/>
            <a:ext cx="3223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Recommends patches or alternatives</a:t>
            </a:r>
            <a:endParaRPr lang="en-US" sz="1200" dirty="0"/>
          </a:p>
        </p:txBody>
      </p:sp>
      <p:sp>
        <p:nvSpPr>
          <p:cNvPr id="36" name="Text 10"/>
          <p:cNvSpPr/>
          <p:nvPr/>
        </p:nvSpPr>
        <p:spPr>
          <a:xfrm>
            <a:off x="8966150" y="2990850"/>
            <a:ext cx="1931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Conflict Resolution</a:t>
            </a:r>
            <a:endParaRPr lang="en-US" sz="1500" dirty="0"/>
          </a:p>
        </p:txBody>
      </p:sp>
      <p:sp>
        <p:nvSpPr>
          <p:cNvPr id="37" name="Text 11"/>
          <p:cNvSpPr/>
          <p:nvPr/>
        </p:nvSpPr>
        <p:spPr>
          <a:xfrm>
            <a:off x="8585150" y="3543300"/>
            <a:ext cx="29209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Identifies dependency conflicts between projects</a:t>
            </a:r>
            <a:endParaRPr lang="en-US" sz="1200" dirty="0"/>
          </a:p>
        </p:txBody>
      </p:sp>
      <p:sp>
        <p:nvSpPr>
          <p:cNvPr id="38" name="Text 12"/>
          <p:cNvSpPr/>
          <p:nvPr/>
        </p:nvSpPr>
        <p:spPr>
          <a:xfrm>
            <a:off x="8585150" y="4076700"/>
            <a:ext cx="29209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Suggests solutions for unified dependencies</a:t>
            </a:r>
            <a:endParaRPr lang="en-US" sz="1200" dirty="0"/>
          </a:p>
        </p:txBody>
      </p:sp>
      <p:sp>
        <p:nvSpPr>
          <p:cNvPr id="39" name="Text 13"/>
          <p:cNvSpPr/>
          <p:nvPr/>
        </p:nvSpPr>
        <p:spPr>
          <a:xfrm>
            <a:off x="8585150" y="4610100"/>
            <a:ext cx="29209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Maintains compatibility across monorepo</a:t>
            </a:r>
            <a:endParaRPr lang="en-US" sz="1200" dirty="0"/>
          </a:p>
        </p:txBody>
      </p:sp>
      <p:sp>
        <p:nvSpPr>
          <p:cNvPr id="40" name="Text 14"/>
          <p:cNvSpPr/>
          <p:nvPr/>
        </p:nvSpPr>
        <p:spPr>
          <a:xfrm>
            <a:off x="904875" y="5753100"/>
            <a:ext cx="106184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B21A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 Tip: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21A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AI agents understand interdependencies within the monorepo, providing more relevant suggestions and reducing false positives.</a:t>
            </a:r>
            <a:endParaRPr lang="en-US" sz="1050" dirty="0"/>
          </a:p>
        </p:txBody>
      </p:sp>
      <p:sp>
        <p:nvSpPr>
          <p:cNvPr id="41" name="Text 15"/>
          <p:cNvSpPr/>
          <p:nvPr/>
        </p:nvSpPr>
        <p:spPr>
          <a:xfrm>
            <a:off x="11687175" y="6505575"/>
            <a:ext cx="4229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12/14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7348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906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33500"/>
            <a:ext cx="11277600" cy="914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705100"/>
            <a:ext cx="2438400" cy="15621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2914650"/>
            <a:ext cx="466725" cy="4953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028950"/>
            <a:ext cx="238125" cy="2667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35814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38862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03550" y="2705100"/>
            <a:ext cx="2438400" cy="1714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94050" y="2895600"/>
            <a:ext cx="228600" cy="4572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94050" y="35052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94050" y="38100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49901" y="2705100"/>
            <a:ext cx="2438400" cy="15240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40401" y="2895600"/>
            <a:ext cx="419100" cy="4953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54701" y="3009900"/>
            <a:ext cx="190500" cy="2667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40401" y="35433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40401" y="38481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96251" y="2705100"/>
            <a:ext cx="2438400" cy="17907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86751" y="2914650"/>
            <a:ext cx="419100" cy="4953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601051" y="3028950"/>
            <a:ext cx="190500" cy="2667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486751" y="358140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486751" y="38862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838825" y="3333750"/>
            <a:ext cx="514350" cy="5334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953125" y="3448050"/>
            <a:ext cx="285750" cy="3048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277225" y="3333750"/>
            <a:ext cx="514350" cy="5334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91525" y="3448050"/>
            <a:ext cx="285750" cy="3048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77225" y="3333750"/>
            <a:ext cx="514350" cy="5334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91525" y="3448050"/>
            <a:ext cx="285750" cy="30480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277225" y="3333750"/>
            <a:ext cx="514350" cy="53340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391525" y="3448050"/>
            <a:ext cx="285750" cy="304800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57200" y="5105400"/>
            <a:ext cx="11277600" cy="1219200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47700" y="5715000"/>
            <a:ext cx="142875" cy="266700"/>
          </a:xfrm>
          <a:prstGeom prst="rect">
            <a:avLst/>
          </a:prstGeom>
        </p:spPr>
      </p:pic>
      <p:pic>
        <p:nvPicPr>
          <p:cNvPr id="3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330601" y="5715000"/>
            <a:ext cx="219075" cy="266700"/>
          </a:xfrm>
          <a:prstGeom prst="rect">
            <a:avLst/>
          </a:prstGeom>
        </p:spPr>
      </p:pic>
      <p:pic>
        <p:nvPicPr>
          <p:cNvPr id="3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013650" y="5715000"/>
            <a:ext cx="190500" cy="266700"/>
          </a:xfrm>
          <a:prstGeom prst="rect">
            <a:avLst/>
          </a:prstGeom>
        </p:spPr>
      </p:pic>
      <p:sp>
        <p:nvSpPr>
          <p:cNvPr id="37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Integration with CI/CD Pipeline</a:t>
            </a:r>
            <a:endParaRPr lang="en-US" sz="2700" dirty="0"/>
          </a:p>
        </p:txBody>
      </p:sp>
      <p:sp>
        <p:nvSpPr>
          <p:cNvPr id="38" name="Text 1"/>
          <p:cNvSpPr/>
          <p:nvPr/>
        </p:nvSpPr>
        <p:spPr>
          <a:xfrm>
            <a:off x="647700" y="1524000"/>
            <a:ext cx="10896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Embedding AI agents directly into our CI/CD pipelines ensures automated checks and optimizations are part of every code change, accelerating our development cycle without compromising quality.</a:t>
            </a:r>
            <a:endParaRPr lang="en-US" sz="1350" dirty="0"/>
          </a:p>
        </p:txBody>
      </p:sp>
      <p:sp>
        <p:nvSpPr>
          <p:cNvPr id="39" name="Text 2"/>
          <p:cNvSpPr/>
          <p:nvPr/>
        </p:nvSpPr>
        <p:spPr>
          <a:xfrm>
            <a:off x="1228725" y="2895600"/>
            <a:ext cx="14763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Pre-Commit Hooks</a:t>
            </a:r>
            <a:endParaRPr lang="en-US" sz="1500" dirty="0"/>
          </a:p>
        </p:txBody>
      </p:sp>
      <p:sp>
        <p:nvSpPr>
          <p:cNvPr id="40" name="Text 3"/>
          <p:cNvSpPr/>
          <p:nvPr/>
        </p:nvSpPr>
        <p:spPr>
          <a:xfrm>
            <a:off x="685800" y="35433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Quick local checks</a:t>
            </a:r>
            <a:endParaRPr lang="en-US" sz="1200" dirty="0"/>
          </a:p>
        </p:txBody>
      </p:sp>
      <p:sp>
        <p:nvSpPr>
          <p:cNvPr id="41" name="Text 4"/>
          <p:cNvSpPr/>
          <p:nvPr/>
        </p:nvSpPr>
        <p:spPr>
          <a:xfrm>
            <a:off x="685800" y="38481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Early issue detection</a:t>
            </a:r>
            <a:endParaRPr lang="en-US" sz="1200" dirty="0"/>
          </a:p>
        </p:txBody>
      </p:sp>
      <p:sp>
        <p:nvSpPr>
          <p:cNvPr id="42" name="Text 5"/>
          <p:cNvSpPr/>
          <p:nvPr/>
        </p:nvSpPr>
        <p:spPr>
          <a:xfrm>
            <a:off x="3936950" y="2990850"/>
            <a:ext cx="1931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Review</a:t>
            </a:r>
            <a:endParaRPr lang="en-US" sz="1500" dirty="0"/>
          </a:p>
        </p:txBody>
      </p:sp>
      <p:sp>
        <p:nvSpPr>
          <p:cNvPr id="43" name="Text 6"/>
          <p:cNvSpPr/>
          <p:nvPr/>
        </p:nvSpPr>
        <p:spPr>
          <a:xfrm>
            <a:off x="3632150" y="34671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AI-powered code reviews</a:t>
            </a:r>
            <a:endParaRPr lang="en-US" sz="1200" dirty="0"/>
          </a:p>
        </p:txBody>
      </p:sp>
      <p:sp>
        <p:nvSpPr>
          <p:cNvPr id="44" name="Text 7"/>
          <p:cNvSpPr/>
          <p:nvPr/>
        </p:nvSpPr>
        <p:spPr>
          <a:xfrm>
            <a:off x="3632150" y="3771900"/>
            <a:ext cx="2247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Feedback in review interface</a:t>
            </a:r>
            <a:endParaRPr lang="en-US" sz="1200" dirty="0"/>
          </a:p>
        </p:txBody>
      </p:sp>
      <p:sp>
        <p:nvSpPr>
          <p:cNvPr id="45" name="Text 8"/>
          <p:cNvSpPr/>
          <p:nvPr/>
        </p:nvSpPr>
        <p:spPr>
          <a:xfrm>
            <a:off x="7073801" y="3009900"/>
            <a:ext cx="1508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Scans</a:t>
            </a:r>
            <a:endParaRPr lang="en-US" sz="1500" dirty="0"/>
          </a:p>
        </p:txBody>
      </p:sp>
      <p:sp>
        <p:nvSpPr>
          <p:cNvPr id="46" name="Text 9"/>
          <p:cNvSpPr/>
          <p:nvPr/>
        </p:nvSpPr>
        <p:spPr>
          <a:xfrm>
            <a:off x="6578501" y="35052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Vulnerability detection</a:t>
            </a:r>
            <a:endParaRPr lang="en-US" sz="1200" dirty="0"/>
          </a:p>
        </p:txBody>
      </p:sp>
      <p:sp>
        <p:nvSpPr>
          <p:cNvPr id="47" name="Text 10"/>
          <p:cNvSpPr/>
          <p:nvPr/>
        </p:nvSpPr>
        <p:spPr>
          <a:xfrm>
            <a:off x="6578501" y="38100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Security analysis</a:t>
            </a:r>
            <a:endParaRPr lang="en-US" sz="1200" dirty="0"/>
          </a:p>
        </p:txBody>
      </p:sp>
      <p:sp>
        <p:nvSpPr>
          <p:cNvPr id="48" name="Text 11"/>
          <p:cNvSpPr/>
          <p:nvPr/>
        </p:nvSpPr>
        <p:spPr>
          <a:xfrm>
            <a:off x="10020151" y="2895600"/>
            <a:ext cx="15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Analysis</a:t>
            </a:r>
            <a:endParaRPr lang="en-US" sz="1500" dirty="0"/>
          </a:p>
        </p:txBody>
      </p:sp>
      <p:sp>
        <p:nvSpPr>
          <p:cNvPr id="49" name="Text 12"/>
          <p:cNvSpPr/>
          <p:nvPr/>
        </p:nvSpPr>
        <p:spPr>
          <a:xfrm>
            <a:off x="9524851" y="35433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Build optimization</a:t>
            </a:r>
            <a:endParaRPr lang="en-US" sz="1200" dirty="0"/>
          </a:p>
        </p:txBody>
      </p:sp>
      <p:sp>
        <p:nvSpPr>
          <p:cNvPr id="50" name="Text 13"/>
          <p:cNvSpPr/>
          <p:nvPr/>
        </p:nvSpPr>
        <p:spPr>
          <a:xfrm>
            <a:off x="9524851" y="3848100"/>
            <a:ext cx="2247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Test performance monitoring</a:t>
            </a:r>
            <a:endParaRPr lang="en-US" sz="1200" dirty="0"/>
          </a:p>
        </p:txBody>
      </p:sp>
      <p:sp>
        <p:nvSpPr>
          <p:cNvPr id="51" name="Text 14"/>
          <p:cNvSpPr/>
          <p:nvPr/>
        </p:nvSpPr>
        <p:spPr>
          <a:xfrm>
            <a:off x="647700" y="5295900"/>
            <a:ext cx="1089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Additional AI Integration Benefits</a:t>
            </a:r>
            <a:endParaRPr lang="en-US" sz="1500" dirty="0"/>
          </a:p>
        </p:txBody>
      </p:sp>
      <p:sp>
        <p:nvSpPr>
          <p:cNvPr id="52" name="Text 15"/>
          <p:cNvSpPr/>
          <p:nvPr/>
        </p:nvSpPr>
        <p:spPr>
          <a:xfrm>
            <a:off x="904875" y="5676900"/>
            <a:ext cx="32733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remediation suggestions for detected issues</a:t>
            </a:r>
            <a:endParaRPr lang="en-US" sz="1200" dirty="0"/>
          </a:p>
        </p:txBody>
      </p:sp>
      <p:sp>
        <p:nvSpPr>
          <p:cNvPr id="53" name="Text 16"/>
          <p:cNvSpPr/>
          <p:nvPr/>
        </p:nvSpPr>
        <p:spPr>
          <a:xfrm>
            <a:off x="4663976" y="5676900"/>
            <a:ext cx="3197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Comprehensive reporting on code quality and security</a:t>
            </a:r>
            <a:endParaRPr lang="en-US" sz="1200" dirty="0"/>
          </a:p>
        </p:txBody>
      </p:sp>
      <p:sp>
        <p:nvSpPr>
          <p:cNvPr id="54" name="Text 17"/>
          <p:cNvSpPr/>
          <p:nvPr/>
        </p:nvSpPr>
        <p:spPr>
          <a:xfrm>
            <a:off x="8318450" y="5676900"/>
            <a:ext cx="32257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Seamless integration with existing CI/CD workflows</a:t>
            </a:r>
            <a:endParaRPr lang="en-US" sz="1200" dirty="0"/>
          </a:p>
        </p:txBody>
      </p:sp>
      <p:sp>
        <p:nvSpPr>
          <p:cNvPr id="55" name="Text 18"/>
          <p:cNvSpPr/>
          <p:nvPr/>
        </p:nvSpPr>
        <p:spPr>
          <a:xfrm>
            <a:off x="11687175" y="6505575"/>
            <a:ext cx="4229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13/14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7348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906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57300"/>
            <a:ext cx="11277600" cy="6477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133600"/>
            <a:ext cx="2438400" cy="16002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305050"/>
            <a:ext cx="447675" cy="4953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2419350"/>
            <a:ext cx="219075" cy="2667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962275"/>
            <a:ext cx="133350" cy="1333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190875"/>
            <a:ext cx="133350" cy="1333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03550" y="2133600"/>
            <a:ext cx="2438400" cy="13716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5950" y="2286000"/>
            <a:ext cx="371475" cy="4953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70250" y="2400300"/>
            <a:ext cx="142875" cy="2667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32150" y="2924175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32150" y="3152775"/>
            <a:ext cx="133350" cy="1333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49901" y="2133600"/>
            <a:ext cx="2438400" cy="13716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02301" y="2286000"/>
            <a:ext cx="400050" cy="4953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16601" y="2400300"/>
            <a:ext cx="171450" cy="2667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78501" y="2924175"/>
            <a:ext cx="133350" cy="13335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78501" y="3152775"/>
            <a:ext cx="133350" cy="13335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96251" y="2133600"/>
            <a:ext cx="2438400" cy="13716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448651" y="2286000"/>
            <a:ext cx="466725" cy="4953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562951" y="2400300"/>
            <a:ext cx="238125" cy="2667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24851" y="2924175"/>
            <a:ext cx="133350" cy="13335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524851" y="3152775"/>
            <a:ext cx="133350" cy="13335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7200" y="4038600"/>
            <a:ext cx="3606701" cy="8382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9600" y="424815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292501" y="4038600"/>
            <a:ext cx="3606850" cy="8382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444901" y="4248150"/>
            <a:ext cx="190500" cy="1524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127950" y="4038600"/>
            <a:ext cx="3606701" cy="83820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280350" y="4248150"/>
            <a:ext cx="190500" cy="15240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57200" y="5181600"/>
            <a:ext cx="11277600" cy="838200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47700" y="5429250"/>
            <a:ext cx="361950" cy="342900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Implementation Roadmap and Next Steps</a:t>
            </a:r>
            <a:endParaRPr lang="en-US" sz="2700" dirty="0"/>
          </a:p>
        </p:txBody>
      </p:sp>
      <p:sp>
        <p:nvSpPr>
          <p:cNvPr id="35" name="Text 1"/>
          <p:cNvSpPr/>
          <p:nvPr/>
        </p:nvSpPr>
        <p:spPr>
          <a:xfrm>
            <a:off x="647700" y="1447800"/>
            <a:ext cx="130759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Adopting a monorepo strategy offers significant advantages for our data team's Python development workflow.</a:t>
            </a:r>
            <a:endParaRPr lang="en-US" sz="1350" dirty="0"/>
          </a:p>
        </p:txBody>
      </p:sp>
      <p:sp>
        <p:nvSpPr>
          <p:cNvPr id="36" name="Text 2"/>
          <p:cNvSpPr/>
          <p:nvPr/>
        </p:nvSpPr>
        <p:spPr>
          <a:xfrm>
            <a:off x="1171575" y="2286000"/>
            <a:ext cx="15716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Monorepo Structure</a:t>
            </a:r>
            <a:endParaRPr lang="en-US" sz="1500" dirty="0"/>
          </a:p>
        </p:txBody>
      </p:sp>
      <p:sp>
        <p:nvSpPr>
          <p:cNvPr id="37" name="Text 3"/>
          <p:cNvSpPr/>
          <p:nvPr/>
        </p:nvSpPr>
        <p:spPr>
          <a:xfrm>
            <a:off x="704850" y="2933700"/>
            <a:ext cx="2697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Define directory structure</a:t>
            </a:r>
            <a:endParaRPr lang="en-US" sz="1050" dirty="0"/>
          </a:p>
        </p:txBody>
      </p:sp>
      <p:sp>
        <p:nvSpPr>
          <p:cNvPr id="38" name="Text 4"/>
          <p:cNvSpPr/>
          <p:nvPr/>
        </p:nvSpPr>
        <p:spPr>
          <a:xfrm>
            <a:off x="704850" y="3162300"/>
            <a:ext cx="2247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 up packages &amp; applications</a:t>
            </a:r>
            <a:endParaRPr lang="en-US" sz="1050" dirty="0"/>
          </a:p>
        </p:txBody>
      </p:sp>
      <p:sp>
        <p:nvSpPr>
          <p:cNvPr id="39" name="Text 5"/>
          <p:cNvSpPr/>
          <p:nvPr/>
        </p:nvSpPr>
        <p:spPr>
          <a:xfrm>
            <a:off x="4041725" y="2400300"/>
            <a:ext cx="1463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uv Adoption</a:t>
            </a:r>
            <a:endParaRPr lang="en-US" sz="1500" dirty="0"/>
          </a:p>
        </p:txBody>
      </p:sp>
      <p:sp>
        <p:nvSpPr>
          <p:cNvPr id="40" name="Text 6"/>
          <p:cNvSpPr/>
          <p:nvPr/>
        </p:nvSpPr>
        <p:spPr>
          <a:xfrm>
            <a:off x="3651200" y="2895600"/>
            <a:ext cx="2247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Install uv</a:t>
            </a:r>
            <a:endParaRPr lang="en-US" sz="1050" dirty="0"/>
          </a:p>
        </p:txBody>
      </p:sp>
      <p:sp>
        <p:nvSpPr>
          <p:cNvPr id="41" name="Text 7"/>
          <p:cNvSpPr/>
          <p:nvPr/>
        </p:nvSpPr>
        <p:spPr>
          <a:xfrm>
            <a:off x="3651200" y="3124200"/>
            <a:ext cx="2697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Migrate to uv.lock</a:t>
            </a:r>
            <a:endParaRPr lang="en-US" sz="1050" dirty="0"/>
          </a:p>
        </p:txBody>
      </p:sp>
      <p:sp>
        <p:nvSpPr>
          <p:cNvPr id="42" name="Text 8"/>
          <p:cNvSpPr/>
          <p:nvPr/>
        </p:nvSpPr>
        <p:spPr>
          <a:xfrm>
            <a:off x="7016651" y="2400300"/>
            <a:ext cx="14973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CI/CD Setup</a:t>
            </a:r>
            <a:endParaRPr lang="en-US" sz="1500" dirty="0"/>
          </a:p>
        </p:txBody>
      </p:sp>
      <p:sp>
        <p:nvSpPr>
          <p:cNvPr id="43" name="Text 9"/>
          <p:cNvSpPr/>
          <p:nvPr/>
        </p:nvSpPr>
        <p:spPr>
          <a:xfrm>
            <a:off x="6597551" y="2895600"/>
            <a:ext cx="2697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Configure GitLab CI/CD</a:t>
            </a:r>
            <a:endParaRPr lang="en-US" sz="1050" dirty="0"/>
          </a:p>
        </p:txBody>
      </p:sp>
      <p:sp>
        <p:nvSpPr>
          <p:cNvPr id="44" name="Text 10"/>
          <p:cNvSpPr/>
          <p:nvPr/>
        </p:nvSpPr>
        <p:spPr>
          <a:xfrm>
            <a:off x="6597551" y="3124200"/>
            <a:ext cx="2697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 up Jenkins pipelines</a:t>
            </a:r>
            <a:endParaRPr lang="en-US" sz="1050" dirty="0"/>
          </a:p>
        </p:txBody>
      </p:sp>
      <p:sp>
        <p:nvSpPr>
          <p:cNvPr id="45" name="Text 11"/>
          <p:cNvSpPr/>
          <p:nvPr/>
        </p:nvSpPr>
        <p:spPr>
          <a:xfrm>
            <a:off x="10029676" y="2400300"/>
            <a:ext cx="16459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 AI Integration</a:t>
            </a:r>
            <a:endParaRPr lang="en-US" sz="1500" dirty="0"/>
          </a:p>
        </p:txBody>
      </p:sp>
      <p:sp>
        <p:nvSpPr>
          <p:cNvPr id="46" name="Text 12"/>
          <p:cNvSpPr/>
          <p:nvPr/>
        </p:nvSpPr>
        <p:spPr>
          <a:xfrm>
            <a:off x="9543901" y="2895600"/>
            <a:ext cx="2697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Code review automation</a:t>
            </a:r>
            <a:endParaRPr lang="en-US" sz="1050" dirty="0"/>
          </a:p>
        </p:txBody>
      </p:sp>
      <p:sp>
        <p:nvSpPr>
          <p:cNvPr id="47" name="Text 13"/>
          <p:cNvSpPr/>
          <p:nvPr/>
        </p:nvSpPr>
        <p:spPr>
          <a:xfrm>
            <a:off x="9543901" y="3124200"/>
            <a:ext cx="2697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Dependency management</a:t>
            </a:r>
            <a:endParaRPr lang="en-US" sz="1050" dirty="0"/>
          </a:p>
        </p:txBody>
      </p:sp>
      <p:sp>
        <p:nvSpPr>
          <p:cNvPr id="48" name="Text 14"/>
          <p:cNvSpPr/>
          <p:nvPr/>
        </p:nvSpPr>
        <p:spPr>
          <a:xfrm>
            <a:off x="838200" y="4191000"/>
            <a:ext cx="1988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Enhanced Reusability</a:t>
            </a:r>
            <a:endParaRPr lang="en-US" sz="1350" dirty="0"/>
          </a:p>
        </p:txBody>
      </p:sp>
      <p:sp>
        <p:nvSpPr>
          <p:cNvPr id="49" name="Text 15"/>
          <p:cNvSpPr/>
          <p:nvPr/>
        </p:nvSpPr>
        <p:spPr>
          <a:xfrm>
            <a:off x="609600" y="4533900"/>
            <a:ext cx="39622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 code across projects, reducing duplication.</a:t>
            </a:r>
            <a:endParaRPr lang="en-US" sz="1050" dirty="0"/>
          </a:p>
        </p:txBody>
      </p:sp>
      <p:sp>
        <p:nvSpPr>
          <p:cNvPr id="50" name="Text 16"/>
          <p:cNvSpPr/>
          <p:nvPr/>
        </p:nvSpPr>
        <p:spPr>
          <a:xfrm>
            <a:off x="4711601" y="4191000"/>
            <a:ext cx="2503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Streamlined Dependencies</a:t>
            </a:r>
            <a:endParaRPr lang="en-US" sz="1350" dirty="0"/>
          </a:p>
        </p:txBody>
      </p:sp>
      <p:sp>
        <p:nvSpPr>
          <p:cNvPr id="51" name="Text 17"/>
          <p:cNvSpPr/>
          <p:nvPr/>
        </p:nvSpPr>
        <p:spPr>
          <a:xfrm>
            <a:off x="4444901" y="4533900"/>
            <a:ext cx="39624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Unified dependency management with uv.</a:t>
            </a:r>
            <a:endParaRPr lang="en-US" sz="1050" dirty="0"/>
          </a:p>
        </p:txBody>
      </p:sp>
      <p:sp>
        <p:nvSpPr>
          <p:cNvPr id="52" name="Text 18"/>
          <p:cNvSpPr/>
          <p:nvPr/>
        </p:nvSpPr>
        <p:spPr>
          <a:xfrm>
            <a:off x="8547050" y="4191000"/>
            <a:ext cx="21831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Collaboration</a:t>
            </a:r>
            <a:endParaRPr lang="en-US" sz="1350" dirty="0"/>
          </a:p>
        </p:txBody>
      </p:sp>
      <p:sp>
        <p:nvSpPr>
          <p:cNvPr id="53" name="Text 19"/>
          <p:cNvSpPr/>
          <p:nvPr/>
        </p:nvSpPr>
        <p:spPr>
          <a:xfrm>
            <a:off x="8280350" y="4533900"/>
            <a:ext cx="39622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Centralized codebase for better team coordination.</a:t>
            </a:r>
            <a:endParaRPr lang="en-US" sz="1050" dirty="0"/>
          </a:p>
        </p:txBody>
      </p:sp>
      <p:sp>
        <p:nvSpPr>
          <p:cNvPr id="54" name="Text 20"/>
          <p:cNvSpPr/>
          <p:nvPr/>
        </p:nvSpPr>
        <p:spPr>
          <a:xfrm>
            <a:off x="1162050" y="5448300"/>
            <a:ext cx="26174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Questions &amp; Answers</a:t>
            </a:r>
            <a:endParaRPr lang="en-US" sz="1800" dirty="0"/>
          </a:p>
        </p:txBody>
      </p:sp>
      <p:sp>
        <p:nvSpPr>
          <p:cNvPr id="55" name="Text 21"/>
          <p:cNvSpPr/>
          <p:nvPr/>
        </p:nvSpPr>
        <p:spPr>
          <a:xfrm>
            <a:off x="9029700" y="53721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Let's discuss implementation</a:t>
            </a:r>
            <a:endParaRPr lang="en-US" sz="1200" dirty="0"/>
          </a:p>
        </p:txBody>
      </p:sp>
      <p:sp>
        <p:nvSpPr>
          <p:cNvPr id="56" name="Text 22"/>
          <p:cNvSpPr/>
          <p:nvPr/>
        </p:nvSpPr>
        <p:spPr>
          <a:xfrm>
            <a:off x="9029700" y="56007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ADE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November 5, 2025</a:t>
            </a:r>
            <a:endParaRPr lang="en-US" sz="1200" dirty="0"/>
          </a:p>
        </p:txBody>
      </p:sp>
      <p:sp>
        <p:nvSpPr>
          <p:cNvPr id="57" name="Text 23"/>
          <p:cNvSpPr/>
          <p:nvPr/>
        </p:nvSpPr>
        <p:spPr>
          <a:xfrm>
            <a:off x="11687175" y="6505575"/>
            <a:ext cx="4229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14/14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2025-11-05T08:01:48Z</dcterms:created>
  <dcterms:modified xsi:type="dcterms:W3CDTF">2025-11-05T08:01:48Z</dcterms:modified>
</cp:coreProperties>
</file>